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We are Team Capzoryx from Bangladesh, and this is Capzoryx Copilot, our entry for Topic E, the SME Finance Copilot. The theme is AI as a financial participant, so we asked what a small business owner really needs from an AI. Not a robot that moves money. A copilot that helps them decide, and never takes control of their money. Everything you will see today is real, running software. The live product and the source code are linked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small business can look profitable on paper and still run out of cash. The owner faces three questions, usually too late. When will cash run short? Which financing really fits? Which payment is safe? Receipts and supplier deadlines rarely line up, the lowest advertised rate can hide a higher real cost, and a duplicate invoice paid in a hurry drains working capital. The gap is not a lack of data. It is the lack of a trusted next decision. We start with Bangladeshi small businesses, but the engine speaks 37 languages and more than 150 currencies.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approach has three verbs: see, decide, control. See: bills, balances, due dates and a seven and thirty day cash outlook. Decide: compare loans by effective annual rate, total cost and how well they fit the cash flow. Control: a second person approves every payment, and every step is written into a signed audit trail. The chain at the bottom is the point. Evidence first, then exact math, then policy and approval, then audit. The AI may propose. Deterministic code calculates. People approve.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Overview screen, from a local copy of our app, using the built-in sample business. All data is fictional. At a glance: a cleared balance of 150,000 taka, with an approximate dollar value beside it, and a cash outlook that flags the first reserve breach. Notice the navigation: Add records, Invoices, Cash flow, Loans, Assistant, Approvals, Activity. And for judges, there is a one-click button, Try a sample business, so you can test every feature in seconds without entering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 business owners do not want to fill in forms, so records can arrive three ways. A photo of a bill or receipt, which uses an optional cloud model. A typed sentence, like: I paid Rahman 5000 for freight yesterday. That becomes a draft, and it works even without cloud AI. Or a plain form. In every case, the app shows a draft card and the owner checks it before anything is saved. Amounts are kept exactly, and recording something never sends money. The human stays in charge from the very first step.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demo story, a fictional exporter. It has 150,000 taka in cleared cash today. But a material bill of 420,000 is due in six days. The chart shows the dip: the lowest projected balance is minus 360,000, and the first reserve breach is on the 26th. Customers will pay 600,000 on day 25, so the business is not failing. It is short of cash for almost three weeks. The forecast is a deterministic scenario, not a prediction, and it shows the problem six days early, while there is still time to act.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decision. The owner types in three offers from lenders. We calculate every repayment exactly and convert each offer to an effective annual rate. The bank term loan at 13.5 percent reducing balance has an effective rate of 16.59 percent, and it fits the cash flow. It is the best match. The offer that says nine percent flat is actually 17.74 percent a year, a rate trap. Supplier finance is the cheapest at 15.79 percent, but it is too small to cover the gap. These quotes are entered by the user, and we do not check eligibility.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is a feature, and this is the slide we care about most. Every consequential action crosses a deterministic policy boundary. The source is an invoice and a payee. Exact math checks the amount and the reserve. The AI may only propose, through typed, bounded tools. Then a different human account must approve, and the ledger entry is posted once and signed. On the left, a resent invoice carrying a hidden instruction to ignore duplicate checks is simply paused. On the right, a payment waits for a second person. No bank credentials, no AI payment execution, no self-approval.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this for real use, not only for a demo. People sign up with accounts and can switch on two-step sign-in with an authenticator app. They can share a workspace with an accountant or a teammate, as an approver or as view-only. The interface comes in 37 languages, including Chinese, and right-to-left layouts such as Arabic. It works on a phone-sized screen. Records come by photo, chat or form, there is a PDF report and a backup file, and conversion between currencies uses live rates. Everything stays free to start.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assistant is local first. Questions about the balance, the bills, or how the site works are answered on the device, from the owner's own figures, with the numbers shown. A smarter online model is optional, and it asks permission before anything is shared. Anything off topic is declined and never sent anywhere: on our fresh test, 25 of 25 off-topic prompts were handled that way. The assistant has no approve or pay tool. Even if it misunderstood a request, the server enforces roles and approvals.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look at the architecture, because trust boundaries matter. The front end is React and TypeScript on Vercel. The policy and finance engine is FastAPI on Render, where money is exact, roles are enforced and approvals happen. State lives in a libSQL database with a signed, linked audit chain. The optional cloud AI sits to the side. It can only explain, using typed tools and consent. It has no approve or execute tool. Financial authority stays inside the policy engine, never inside the model.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evidence, from internal checks that we re-ran on the 20th of October. We have 490 backend tests. Sixty of sixty black-box probes passed against a local server. A randomized check of 14,280 financing scenarios found money conserved exactly. And on 95 fresh, unseen prompts, the on-device assistant was right 73.7 percent of the time. We say that number plainly, because it is the honest one, and the failures are safe ones. What we do not claim: no bank connection, user-entered quotes, scenarios not predictions, decision support not autonomy, and no independent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AI should improve financial judgment, not replace human control. Next, when governance is ready, we would add bank and wallet statement import, bill reminders, and validated integrations with a security review. You can scan the code now to open the live product, with the sample business one click away, or visit our GitHub page. Thank you, from Team Capzoryx in Bangladesh. We would be glad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capzoryx-copilot.vercel.app" TargetMode="External"/><Relationship Id="rId5" Type="http://schemas.openxmlformats.org/officeDocument/2006/relationships/hyperlink" Target="https://github.com/Pranto-404/capzoryx-copilot" TargetMode="External"/><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hyperlink" Target="https://capzoryx-copilot.vercel.app" TargetMode="External"/><Relationship Id="rId6" Type="http://schemas.openxmlformats.org/officeDocument/2006/relationships/hyperlink" Target="https://github.com/Pranto-404/capzoryx-copilot"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sp>
        <p:nvSpPr>
          <p:cNvPr id="2" name="TextBox 1"/>
          <p:cNvSpPr txBox="1"/>
          <p:nvPr/>
        </p:nvSpPr>
        <p:spPr>
          <a:xfrm>
            <a:off x="731520" y="566928"/>
            <a:ext cx="7315200" cy="274320"/>
          </a:xfrm>
          <a:prstGeom prst="rect">
            <a:avLst/>
          </a:prstGeom>
          <a:noFill/>
        </p:spPr>
        <p:txBody>
          <a:bodyPr wrap="square" lIns="0" rIns="0" tIns="0" bIns="0" anchor="t">
            <a:spAutoFit/>
          </a:bodyPr>
          <a:lstStyle/>
          <a:p>
            <a:pPr algn="l">
              <a:lnSpc>
                <a:spcPct val="110000"/>
              </a:lnSpc>
              <a:spcAft>
                <a:spcPts val="0"/>
              </a:spcAft>
            </a:pPr>
            <a:r>
              <a:rPr sz="1600" b="1" spc="160">
                <a:solidFill>
                  <a:srgbClr val="3BE3C1"/>
                </a:solidFill>
                <a:latin typeface="Inter"/>
                <a:ea typeface="Inter"/>
                <a:cs typeface="Inter"/>
              </a:rPr>
              <a:t>2026 SHENZHEN INTERNATIONAL FINTECHATHON</a:t>
            </a:r>
          </a:p>
        </p:txBody>
      </p:sp>
      <p:sp>
        <p:nvSpPr>
          <p:cNvPr id="3" name="TextBox 2"/>
          <p:cNvSpPr txBox="1"/>
          <p:nvPr/>
        </p:nvSpPr>
        <p:spPr>
          <a:xfrm>
            <a:off x="731520" y="914400"/>
            <a:ext cx="7315200" cy="274320"/>
          </a:xfrm>
          <a:prstGeom prst="rect">
            <a:avLst/>
          </a:prstGeom>
          <a:noFill/>
        </p:spPr>
        <p:txBody>
          <a:bodyPr wrap="square" lIns="0" rIns="0" tIns="0" bIns="0" anchor="t">
            <a:spAutoFit/>
          </a:bodyPr>
          <a:lstStyle/>
          <a:p>
            <a:pPr algn="l">
              <a:lnSpc>
                <a:spcPct val="110000"/>
              </a:lnSpc>
              <a:spcAft>
                <a:spcPts val="0"/>
              </a:spcAft>
            </a:pPr>
            <a:r>
              <a:rPr sz="1600" b="1" spc="100">
                <a:solidFill>
                  <a:srgbClr val="B4C1D2"/>
                </a:solidFill>
                <a:latin typeface="Inter"/>
                <a:ea typeface="Inter"/>
                <a:cs typeface="Inter"/>
              </a:rPr>
              <a:t>INTERNATIONAL TRACK  ·  TOPIC E: SME FINANCE COPILOT</a:t>
            </a:r>
          </a:p>
        </p:txBody>
      </p:sp>
      <p:pic>
        <p:nvPicPr>
          <p:cNvPr id="4" name="Picture 3" descr="logo.png"/>
          <p:cNvPicPr>
            <a:picLocks noChangeAspect="1"/>
          </p:cNvPicPr>
          <p:nvPr/>
        </p:nvPicPr>
        <p:blipFill>
          <a:blip r:embed="rId3"/>
          <a:stretch>
            <a:fillRect/>
          </a:stretch>
        </p:blipFill>
        <p:spPr>
          <a:xfrm>
            <a:off x="731520" y="1737360"/>
            <a:ext cx="1234440" cy="1234440"/>
          </a:xfrm>
          <a:prstGeom prst="rect">
            <a:avLst/>
          </a:prstGeom>
        </p:spPr>
      </p:pic>
      <p:sp>
        <p:nvSpPr>
          <p:cNvPr id="5" name="TextBox 4"/>
          <p:cNvSpPr txBox="1"/>
          <p:nvPr/>
        </p:nvSpPr>
        <p:spPr>
          <a:xfrm>
            <a:off x="2240280" y="1627632"/>
            <a:ext cx="5029200" cy="822960"/>
          </a:xfrm>
          <a:prstGeom prst="rect">
            <a:avLst/>
          </a:prstGeom>
          <a:noFill/>
        </p:spPr>
        <p:txBody>
          <a:bodyPr wrap="square" lIns="0" rIns="0" tIns="0" bIns="0" anchor="t">
            <a:spAutoFit/>
          </a:bodyPr>
          <a:lstStyle/>
          <a:p>
            <a:pPr algn="l">
              <a:lnSpc>
                <a:spcPct val="95000"/>
              </a:lnSpc>
              <a:spcAft>
                <a:spcPts val="0"/>
              </a:spcAft>
            </a:pPr>
            <a:r>
              <a:rPr sz="5800" b="1">
                <a:solidFill>
                  <a:srgbClr val="FFFFFF"/>
                </a:solidFill>
                <a:latin typeface="Inter"/>
                <a:ea typeface="Inter"/>
                <a:cs typeface="Inter"/>
              </a:rPr>
              <a:t>Capzoryx</a:t>
            </a:r>
          </a:p>
        </p:txBody>
      </p:sp>
      <p:sp>
        <p:nvSpPr>
          <p:cNvPr id="6" name="TextBox 5"/>
          <p:cNvSpPr txBox="1"/>
          <p:nvPr/>
        </p:nvSpPr>
        <p:spPr>
          <a:xfrm>
            <a:off x="2240280" y="2331720"/>
            <a:ext cx="5029200" cy="822960"/>
          </a:xfrm>
          <a:prstGeom prst="rect">
            <a:avLst/>
          </a:prstGeom>
          <a:noFill/>
        </p:spPr>
        <p:txBody>
          <a:bodyPr wrap="square" lIns="0" rIns="0" tIns="0" bIns="0" anchor="t">
            <a:spAutoFit/>
          </a:bodyPr>
          <a:lstStyle/>
          <a:p>
            <a:pPr algn="l">
              <a:lnSpc>
                <a:spcPct val="95000"/>
              </a:lnSpc>
              <a:spcAft>
                <a:spcPts val="0"/>
              </a:spcAft>
            </a:pPr>
            <a:r>
              <a:rPr sz="5800" b="1">
                <a:solidFill>
                  <a:srgbClr val="3BE3C1"/>
                </a:solidFill>
                <a:latin typeface="Inter"/>
                <a:ea typeface="Inter"/>
                <a:cs typeface="Inter"/>
              </a:rPr>
              <a:t>Copilot</a:t>
            </a:r>
          </a:p>
        </p:txBody>
      </p:sp>
      <p:sp>
        <p:nvSpPr>
          <p:cNvPr id="7" name="TextBox 6"/>
          <p:cNvSpPr txBox="1"/>
          <p:nvPr/>
        </p:nvSpPr>
        <p:spPr>
          <a:xfrm>
            <a:off x="731520" y="3383280"/>
            <a:ext cx="5852160" cy="1645920"/>
          </a:xfrm>
          <a:prstGeom prst="rect">
            <a:avLst/>
          </a:prstGeom>
          <a:noFill/>
        </p:spPr>
        <p:txBody>
          <a:bodyPr wrap="square" lIns="0" rIns="0" tIns="0" bIns="0" anchor="t">
            <a:spAutoFit/>
          </a:bodyPr>
          <a:lstStyle/>
          <a:p>
            <a:pPr algn="l">
              <a:lnSpc>
                <a:spcPct val="112000"/>
              </a:lnSpc>
              <a:spcAft>
                <a:spcPts val="0"/>
              </a:spcAft>
            </a:pPr>
            <a:r>
              <a:rPr sz="2600" b="1">
                <a:solidFill>
                  <a:srgbClr val="FFFFFF"/>
                </a:solidFill>
                <a:latin typeface="Inter"/>
                <a:ea typeface="Inter"/>
                <a:cs typeface="Inter"/>
              </a:rPr>
              <a:t>AI that helps small businesses decide.</a:t>
            </a:r>
            <a:r>
              <a:rPr sz="2600" b="0">
                <a:solidFill>
                  <a:srgbClr val="B4C1D2"/>
                </a:solidFill>
                <a:latin typeface="Inter"/>
                <a:ea typeface="Inter"/>
                <a:cs typeface="Inter"/>
              </a:rPr>
              <a:t>  Without ever taking control of their money.</a:t>
            </a:r>
          </a:p>
        </p:txBody>
      </p:sp>
      <p:sp>
        <p:nvSpPr>
          <p:cNvPr id="8" name="Rounded Rectangle 7"/>
          <p:cNvSpPr/>
          <p:nvPr/>
        </p:nvSpPr>
        <p:spPr>
          <a:xfrm>
            <a:off x="731520" y="5029200"/>
            <a:ext cx="3931920" cy="457200"/>
          </a:xfrm>
          <a:prstGeom prst="roundRect">
            <a:avLst>
              <a:gd name="adj" fmla="val 50000"/>
            </a:avLst>
          </a:prstGeom>
          <a:solidFill>
            <a:srgbClr val="172A44"/>
          </a:solidFill>
          <a:ln w="15875">
            <a:solidFill>
              <a:srgbClr val="3BE3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029200"/>
            <a:ext cx="3931920" cy="457200"/>
          </a:xfrm>
          <a:prstGeom prst="rect">
            <a:avLst/>
          </a:prstGeom>
          <a:noFill/>
        </p:spPr>
        <p:txBody>
          <a:bodyPr wrap="square" lIns="0" rIns="0" tIns="0" bIns="0" anchor="ctr">
            <a:spAutoFit/>
          </a:bodyPr>
          <a:lstStyle/>
          <a:p>
            <a:pPr algn="ctr">
              <a:lnSpc>
                <a:spcPct val="110000"/>
              </a:lnSpc>
              <a:spcAft>
                <a:spcPts val="0"/>
              </a:spcAft>
            </a:pPr>
            <a:r>
              <a:rPr sz="1600" b="1">
                <a:solidFill>
                  <a:srgbClr val="3BE3C1"/>
                </a:solidFill>
                <a:latin typeface="Inter"/>
                <a:ea typeface="Inter"/>
                <a:cs typeface="Inter"/>
              </a:rPr>
              <a:t>TEAM CAPZORYX  ·  BANGLADESH</a:t>
            </a:r>
          </a:p>
        </p:txBody>
      </p:sp>
      <p:sp>
        <p:nvSpPr>
          <p:cNvPr id="10" name="TextBox 9"/>
          <p:cNvSpPr txBox="1"/>
          <p:nvPr/>
        </p:nvSpPr>
        <p:spPr>
          <a:xfrm>
            <a:off x="731520" y="5669280"/>
            <a:ext cx="6400800" cy="274320"/>
          </a:xfrm>
          <a:prstGeom prst="rect">
            <a:avLst/>
          </a:prstGeom>
          <a:noFill/>
        </p:spPr>
        <p:txBody>
          <a:bodyPr wrap="square" lIns="0" rIns="0" tIns="0" bIns="0" anchor="t">
            <a:spAutoFit/>
          </a:bodyPr>
          <a:lstStyle/>
          <a:p>
            <a:pPr algn="l">
              <a:lnSpc>
                <a:spcPct val="110000"/>
              </a:lnSpc>
              <a:spcAft>
                <a:spcPts val="0"/>
              </a:spcAft>
            </a:pPr>
            <a:r>
              <a:rPr sz="1600" b="0">
                <a:solidFill>
                  <a:srgbClr val="3BE3C1"/>
                </a:solidFill>
                <a:latin typeface="Inter"/>
                <a:ea typeface="Inter"/>
                <a:cs typeface="Inter"/>
                <a:hlinkClick r:id="rId4"/>
              </a:rPr>
              <a:t>Live product</a:t>
            </a:r>
            <a:r>
              <a:rPr sz="1600" b="0">
                <a:solidFill>
                  <a:srgbClr val="B4C1D2"/>
                </a:solidFill>
                <a:latin typeface="Inter"/>
                <a:ea typeface="Inter"/>
                <a:cs typeface="Inter"/>
              </a:rPr>
              <a:t>   ·   </a:t>
            </a:r>
            <a:r>
              <a:rPr sz="1600" b="0">
                <a:solidFill>
                  <a:srgbClr val="3BE3C1"/>
                </a:solidFill>
                <a:latin typeface="Inter"/>
                <a:ea typeface="Inter"/>
                <a:cs typeface="Inter"/>
                <a:hlinkClick r:id="rId5"/>
              </a:rPr>
              <a:t>Source code</a:t>
            </a:r>
            <a:r>
              <a:rPr sz="1600" b="0">
                <a:solidFill>
                  <a:srgbClr val="B4C1D2"/>
                </a:solidFill>
                <a:latin typeface="Inter"/>
                <a:ea typeface="Inter"/>
                <a:cs typeface="Inter"/>
              </a:rPr>
              <a:t>   ·   Tested decision controls</a:t>
            </a:r>
          </a:p>
        </p:txBody>
      </p:sp>
      <p:pic>
        <p:nvPicPr>
          <p:cNvPr id="11" name="Picture 10" descr="The Capzoryx Copilot landing page and sign-up card"/>
          <p:cNvPicPr>
            <a:picLocks noChangeAspect="1"/>
          </p:cNvPicPr>
          <p:nvPr/>
        </p:nvPicPr>
        <p:blipFill>
          <a:blip r:embed="rId6"/>
          <a:stretch>
            <a:fillRect/>
          </a:stretch>
        </p:blipFill>
        <p:spPr>
          <a:xfrm>
            <a:off x="6327648" y="1252728"/>
            <a:ext cx="5541264" cy="3655314"/>
          </a:xfrm>
          <a:prstGeom prst="rect">
            <a:avLst/>
          </a:prstGeom>
        </p:spPr>
      </p:pic>
      <p:sp>
        <p:nvSpPr>
          <p:cNvPr id="12" name="TextBox 11"/>
          <p:cNvSpPr txBox="1"/>
          <p:nvPr/>
        </p:nvSpPr>
        <p:spPr>
          <a:xfrm>
            <a:off x="6583680" y="5029200"/>
            <a:ext cx="5029200" cy="274320"/>
          </a:xfrm>
          <a:prstGeom prst="rect">
            <a:avLst/>
          </a:prstGeom>
          <a:noFill/>
        </p:spPr>
        <p:txBody>
          <a:bodyPr wrap="square" lIns="0" rIns="0" tIns="0" bIns="0" anchor="t">
            <a:spAutoFit/>
          </a:bodyPr>
          <a:lstStyle/>
          <a:p>
            <a:pPr algn="l">
              <a:lnSpc>
                <a:spcPct val="110000"/>
              </a:lnSpc>
              <a:spcAft>
                <a:spcPts val="0"/>
              </a:spcAft>
            </a:pPr>
            <a:r>
              <a:rPr sz="1400" b="0">
                <a:solidFill>
                  <a:srgbClr val="8FA0B5"/>
                </a:solidFill>
                <a:latin typeface="Inter"/>
                <a:ea typeface="Inter"/>
                <a:cs typeface="Inter"/>
              </a:rPr>
              <a:t>The real landing page · 37 languages · free to start</a:t>
            </a:r>
          </a:p>
        </p:txBody>
      </p:sp>
      <p:cxnSp>
        <p:nvCxnSpPr>
          <p:cNvPr id="13" name="Connector 12"/>
          <p:cNvCxnSpPr/>
          <p:nvPr/>
        </p:nvCxnSpPr>
        <p:spPr>
          <a:xfrm>
            <a:off x="640080" y="6382512"/>
            <a:ext cx="10911535" cy="0"/>
          </a:xfrm>
          <a:prstGeom prst="line">
            <a:avLst/>
          </a:prstGeom>
          <a:ln>
            <a:solidFill>
              <a:srgbClr val="2A3F5C"/>
            </a:solidFill>
          </a:ln>
        </p:spPr>
        <p:style>
          <a:lnRef idx="2">
            <a:schemeClr val="accent1"/>
          </a:lnRef>
          <a:fillRef idx="0">
            <a:schemeClr val="accent1"/>
          </a:fillRef>
          <a:effectRef idx="1">
            <a:schemeClr val="accent1"/>
          </a:effectRef>
          <a:fontRef idx="minor">
            <a:schemeClr val="tx1"/>
          </a:fontRef>
        </p:style>
      </p:cxnSp>
      <p:pic>
        <p:nvPicPr>
          <p:cNvPr id="14" name="Picture 13" descr="logo.png"/>
          <p:cNvPicPr>
            <a:picLocks noChangeAspect="1"/>
          </p:cNvPicPr>
          <p:nvPr/>
        </p:nvPicPr>
        <p:blipFill>
          <a:blip r:embed="rId3"/>
          <a:stretch>
            <a:fillRect/>
          </a:stretch>
        </p:blipFill>
        <p:spPr>
          <a:xfrm>
            <a:off x="640080" y="6446520"/>
            <a:ext cx="292608" cy="292608"/>
          </a:xfrm>
          <a:prstGeom prst="rect">
            <a:avLst/>
          </a:prstGeom>
        </p:spPr>
      </p:pic>
      <p:sp>
        <p:nvSpPr>
          <p:cNvPr id="15" name="TextBox 14"/>
          <p:cNvSpPr txBox="1"/>
          <p:nvPr/>
        </p:nvSpPr>
        <p:spPr>
          <a:xfrm>
            <a:off x="1024128" y="6464808"/>
            <a:ext cx="7772400" cy="274320"/>
          </a:xfrm>
          <a:prstGeom prst="rect">
            <a:avLst/>
          </a:prstGeom>
          <a:noFill/>
        </p:spPr>
        <p:txBody>
          <a:bodyPr wrap="square" lIns="0" rIns="0" tIns="0" bIns="0" anchor="ctr">
            <a:spAutoFit/>
          </a:bodyPr>
          <a:lstStyle/>
          <a:p>
            <a:pPr algn="l">
              <a:lnSpc>
                <a:spcPct val="110000"/>
              </a:lnSpc>
              <a:spcAft>
                <a:spcPts val="0"/>
              </a:spcAft>
            </a:pPr>
            <a:r>
              <a:rPr sz="1400" b="1">
                <a:solidFill>
                  <a:srgbClr val="B4C1D2"/>
                </a:solidFill>
                <a:latin typeface="Inter"/>
                <a:ea typeface="Inter"/>
                <a:cs typeface="Inter"/>
              </a:rPr>
              <a:t>Capzoryx Copilot</a:t>
            </a:r>
            <a:r>
              <a:rPr sz="1400" b="0">
                <a:solidFill>
                  <a:srgbClr val="8FA0B5"/>
                </a:solidFill>
                <a:latin typeface="Inter"/>
                <a:ea typeface="Inter"/>
                <a:cs typeface="Inter"/>
              </a:rPr>
              <a:t>  ·  AI as a financial participant  ·  10-minute pitch</a:t>
            </a:r>
          </a:p>
        </p:txBody>
      </p:sp>
      <p:sp>
        <p:nvSpPr>
          <p:cNvPr id="16" name="TextBox 15"/>
          <p:cNvSpPr txBox="1"/>
          <p:nvPr/>
        </p:nvSpPr>
        <p:spPr>
          <a:xfrm>
            <a:off x="9722815" y="6464808"/>
            <a:ext cx="1828800" cy="274320"/>
          </a:xfrm>
          <a:prstGeom prst="rect">
            <a:avLst/>
          </a:prstGeom>
          <a:noFill/>
        </p:spPr>
        <p:txBody>
          <a:bodyPr wrap="square" lIns="0" rIns="0" tIns="0" bIns="0" anchor="ctr">
            <a:spAutoFit/>
          </a:bodyPr>
          <a:lstStyle/>
          <a:p>
            <a:pPr algn="r">
              <a:lnSpc>
                <a:spcPct val="110000"/>
              </a:lnSpc>
              <a:spcAft>
                <a:spcPts val="0"/>
              </a:spcAft>
            </a:pPr>
            <a:r>
              <a:rPr sz="1400" b="1">
                <a:solidFill>
                  <a:srgbClr val="B4C1D2"/>
                </a:solidFill>
                <a:latin typeface="Inter"/>
                <a:ea typeface="Inter"/>
                <a:cs typeface="Inter"/>
              </a:rP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lIns="0" rIns="0" tIns="0" bIns="0" anchor="t">
            <a:spAutoFit/>
          </a:bodyPr>
          <a:lstStyle/>
          <a:p>
            <a:pPr algn="l">
              <a:lnSpc>
                <a:spcPct val="110000"/>
              </a:lnSpc>
              <a:spcAft>
                <a:spcPts val="0"/>
              </a:spcAft>
            </a:pPr>
            <a:r>
              <a:rPr sz="1400" b="1" spc="200">
                <a:solidFill>
                  <a:srgbClr val="3BE3C1"/>
                </a:solidFill>
                <a:latin typeface="Inter"/>
                <a:ea typeface="Inter"/>
                <a:cs typeface="Inter"/>
              </a:rPr>
              <a:t>01 / THE SME PROBLEM</a:t>
            </a:r>
          </a:p>
        </p:txBody>
      </p:sp>
      <p:sp>
        <p:nvSpPr>
          <p:cNvPr id="3" name="TextBox 2"/>
          <p:cNvSpPr txBox="1"/>
          <p:nvPr/>
        </p:nvSpPr>
        <p:spPr>
          <a:xfrm>
            <a:off x="640080" y="713232"/>
            <a:ext cx="10881360" cy="731520"/>
          </a:xfrm>
          <a:prstGeom prst="rect">
            <a:avLst/>
          </a:prstGeom>
          <a:noFill/>
        </p:spPr>
        <p:txBody>
          <a:bodyPr wrap="square" lIns="0" rIns="0" tIns="0" bIns="0" anchor="t">
            <a:spAutoFit/>
          </a:bodyPr>
          <a:lstStyle/>
          <a:p>
            <a:pPr algn="l">
              <a:lnSpc>
                <a:spcPct val="100000"/>
              </a:lnSpc>
              <a:spcAft>
                <a:spcPts val="0"/>
              </a:spcAft>
            </a:pPr>
            <a:r>
              <a:rPr sz="3600" b="1">
                <a:solidFill>
                  <a:srgbClr val="FFFFFF"/>
                </a:solidFill>
                <a:latin typeface="Inter"/>
                <a:ea typeface="Inter"/>
                <a:cs typeface="Inter"/>
              </a:rPr>
              <a:t>Profitable on paper. Short of cash in reality.</a:t>
            </a:r>
          </a:p>
        </p:txBody>
      </p:sp>
      <p:sp>
        <p:nvSpPr>
          <p:cNvPr id="4" name="TextBox 3"/>
          <p:cNvSpPr txBox="1"/>
          <p:nvPr/>
        </p:nvSpPr>
        <p:spPr>
          <a:xfrm>
            <a:off x="640080" y="1389888"/>
            <a:ext cx="10881360" cy="411480"/>
          </a:xfrm>
          <a:prstGeom prst="rect">
            <a:avLst/>
          </a:prstGeom>
          <a:noFill/>
        </p:spPr>
        <p:txBody>
          <a:bodyPr wrap="square" lIns="0" rIns="0" tIns="0" bIns="0" anchor="t">
            <a:spAutoFit/>
          </a:bodyPr>
          <a:lstStyle/>
          <a:p>
            <a:pPr algn="l">
              <a:lnSpc>
                <a:spcPct val="110000"/>
              </a:lnSpc>
              <a:spcAft>
                <a:spcPts val="0"/>
              </a:spcAft>
            </a:pPr>
            <a:r>
              <a:rPr sz="2000" b="0">
                <a:solidFill>
                  <a:srgbClr val="B4C1D2"/>
                </a:solidFill>
                <a:latin typeface="Inter"/>
                <a:ea typeface="Inter"/>
                <a:cs typeface="Inter"/>
              </a:rPr>
              <a:t>Three questions small-business owners answer too late.</a:t>
            </a:r>
          </a:p>
        </p:txBody>
      </p:sp>
      <p:sp>
        <p:nvSpPr>
          <p:cNvPr id="5" name="Rounded Rectangle 4"/>
          <p:cNvSpPr/>
          <p:nvPr/>
        </p:nvSpPr>
        <p:spPr>
          <a:xfrm>
            <a:off x="640080" y="2011680"/>
            <a:ext cx="3520440" cy="2743200"/>
          </a:xfrm>
          <a:prstGeom prst="roundRect">
            <a:avLst>
              <a:gd name="adj" fmla="val 4666"/>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94560"/>
            <a:ext cx="1371600" cy="548640"/>
          </a:xfrm>
          <a:prstGeom prst="rect">
            <a:avLst/>
          </a:prstGeom>
          <a:noFill/>
        </p:spPr>
        <p:txBody>
          <a:bodyPr wrap="square" lIns="0" rIns="0" tIns="0" bIns="0" anchor="t">
            <a:spAutoFit/>
          </a:bodyPr>
          <a:lstStyle/>
          <a:p>
            <a:pPr algn="l">
              <a:lnSpc>
                <a:spcPct val="110000"/>
              </a:lnSpc>
              <a:spcAft>
                <a:spcPts val="0"/>
              </a:spcAft>
            </a:pPr>
            <a:r>
              <a:rPr sz="3200" b="1">
                <a:solidFill>
                  <a:srgbClr val="3BE3C1"/>
                </a:solidFill>
                <a:latin typeface="Inter"/>
                <a:ea typeface="Inter"/>
                <a:cs typeface="Inter"/>
              </a:rPr>
              <a:t>01</a:t>
            </a:r>
          </a:p>
        </p:txBody>
      </p:sp>
      <p:sp>
        <p:nvSpPr>
          <p:cNvPr id="7" name="TextBox 6"/>
          <p:cNvSpPr txBox="1"/>
          <p:nvPr/>
        </p:nvSpPr>
        <p:spPr>
          <a:xfrm>
            <a:off x="914400" y="2788920"/>
            <a:ext cx="3017520" cy="822960"/>
          </a:xfrm>
          <a:prstGeom prst="rect">
            <a:avLst/>
          </a:prstGeom>
          <a:noFill/>
        </p:spPr>
        <p:txBody>
          <a:bodyPr wrap="square" lIns="0" rIns="0" tIns="0" bIns="0" anchor="t">
            <a:spAutoFit/>
          </a:bodyPr>
          <a:lstStyle/>
          <a:p>
            <a:pPr algn="l">
              <a:lnSpc>
                <a:spcPct val="105000"/>
              </a:lnSpc>
              <a:spcAft>
                <a:spcPts val="0"/>
              </a:spcAft>
            </a:pPr>
            <a:r>
              <a:rPr sz="2400" b="1">
                <a:solidFill>
                  <a:srgbClr val="FFFFFF"/>
                </a:solidFill>
                <a:latin typeface="Inter"/>
                <a:ea typeface="Inter"/>
                <a:cs typeface="Inter"/>
              </a:rPr>
              <a:t>When will cash run short?</a:t>
            </a:r>
          </a:p>
        </p:txBody>
      </p:sp>
      <p:sp>
        <p:nvSpPr>
          <p:cNvPr id="8" name="TextBox 7"/>
          <p:cNvSpPr txBox="1"/>
          <p:nvPr/>
        </p:nvSpPr>
        <p:spPr>
          <a:xfrm>
            <a:off x="914400" y="3611880"/>
            <a:ext cx="3017520" cy="1051560"/>
          </a:xfrm>
          <a:prstGeom prst="rect">
            <a:avLst/>
          </a:prstGeom>
          <a:noFill/>
        </p:spPr>
        <p:txBody>
          <a:bodyPr wrap="square" lIns="0" rIns="0" tIns="0" bIns="0" anchor="t">
            <a:spAutoFit/>
          </a:bodyPr>
          <a:lstStyle/>
          <a:p>
            <a:pPr algn="l">
              <a:lnSpc>
                <a:spcPct val="115000"/>
              </a:lnSpc>
              <a:spcAft>
                <a:spcPts val="0"/>
              </a:spcAft>
            </a:pPr>
            <a:r>
              <a:rPr sz="1800" b="0">
                <a:solidFill>
                  <a:srgbClr val="B4C1D2"/>
                </a:solidFill>
                <a:latin typeface="Inter"/>
                <a:ea typeface="Inter"/>
                <a:cs typeface="Inter"/>
              </a:rPr>
              <a:t>Receipts and supplier deadlines rarely arrive together.</a:t>
            </a:r>
          </a:p>
        </p:txBody>
      </p:sp>
      <p:sp>
        <p:nvSpPr>
          <p:cNvPr id="9" name="Rounded Rectangle 8"/>
          <p:cNvSpPr/>
          <p:nvPr/>
        </p:nvSpPr>
        <p:spPr>
          <a:xfrm>
            <a:off x="4343400" y="2011680"/>
            <a:ext cx="3520440" cy="2743200"/>
          </a:xfrm>
          <a:prstGeom prst="roundRect">
            <a:avLst>
              <a:gd name="adj" fmla="val 4666"/>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194560"/>
            <a:ext cx="1371600" cy="548640"/>
          </a:xfrm>
          <a:prstGeom prst="rect">
            <a:avLst/>
          </a:prstGeom>
          <a:noFill/>
        </p:spPr>
        <p:txBody>
          <a:bodyPr wrap="square" lIns="0" rIns="0" tIns="0" bIns="0" anchor="t">
            <a:spAutoFit/>
          </a:bodyPr>
          <a:lstStyle/>
          <a:p>
            <a:pPr algn="l">
              <a:lnSpc>
                <a:spcPct val="110000"/>
              </a:lnSpc>
              <a:spcAft>
                <a:spcPts val="0"/>
              </a:spcAft>
            </a:pPr>
            <a:r>
              <a:rPr sz="3200" b="1">
                <a:solidFill>
                  <a:srgbClr val="3BE3C1"/>
                </a:solidFill>
                <a:latin typeface="Inter"/>
                <a:ea typeface="Inter"/>
                <a:cs typeface="Inter"/>
              </a:rPr>
              <a:t>02</a:t>
            </a:r>
          </a:p>
        </p:txBody>
      </p:sp>
      <p:sp>
        <p:nvSpPr>
          <p:cNvPr id="11" name="TextBox 10"/>
          <p:cNvSpPr txBox="1"/>
          <p:nvPr/>
        </p:nvSpPr>
        <p:spPr>
          <a:xfrm>
            <a:off x="4617720" y="2788920"/>
            <a:ext cx="3017520" cy="822960"/>
          </a:xfrm>
          <a:prstGeom prst="rect">
            <a:avLst/>
          </a:prstGeom>
          <a:noFill/>
        </p:spPr>
        <p:txBody>
          <a:bodyPr wrap="square" lIns="0" rIns="0" tIns="0" bIns="0" anchor="t">
            <a:spAutoFit/>
          </a:bodyPr>
          <a:lstStyle/>
          <a:p>
            <a:pPr algn="l">
              <a:lnSpc>
                <a:spcPct val="105000"/>
              </a:lnSpc>
              <a:spcAft>
                <a:spcPts val="0"/>
              </a:spcAft>
            </a:pPr>
            <a:r>
              <a:rPr sz="2400" b="1">
                <a:solidFill>
                  <a:srgbClr val="FFFFFF"/>
                </a:solidFill>
                <a:latin typeface="Inter"/>
                <a:ea typeface="Inter"/>
                <a:cs typeface="Inter"/>
              </a:rPr>
              <a:t>Which financing truly fits?</a:t>
            </a:r>
          </a:p>
        </p:txBody>
      </p:sp>
      <p:sp>
        <p:nvSpPr>
          <p:cNvPr id="12" name="TextBox 11"/>
          <p:cNvSpPr txBox="1"/>
          <p:nvPr/>
        </p:nvSpPr>
        <p:spPr>
          <a:xfrm>
            <a:off x="4617720" y="3611880"/>
            <a:ext cx="3017520" cy="1051560"/>
          </a:xfrm>
          <a:prstGeom prst="rect">
            <a:avLst/>
          </a:prstGeom>
          <a:noFill/>
        </p:spPr>
        <p:txBody>
          <a:bodyPr wrap="square" lIns="0" rIns="0" tIns="0" bIns="0" anchor="t">
            <a:spAutoFit/>
          </a:bodyPr>
          <a:lstStyle/>
          <a:p>
            <a:pPr algn="l">
              <a:lnSpc>
                <a:spcPct val="115000"/>
              </a:lnSpc>
              <a:spcAft>
                <a:spcPts val="0"/>
              </a:spcAft>
            </a:pPr>
            <a:r>
              <a:rPr sz="1800" b="0">
                <a:solidFill>
                  <a:srgbClr val="B4C1D2"/>
                </a:solidFill>
                <a:latin typeface="Inter"/>
                <a:ea typeface="Inter"/>
                <a:cs typeface="Inter"/>
              </a:rPr>
              <a:t>The lowest advertised rate can hide a higher effective cost.</a:t>
            </a:r>
          </a:p>
        </p:txBody>
      </p:sp>
      <p:sp>
        <p:nvSpPr>
          <p:cNvPr id="13" name="Rounded Rectangle 12"/>
          <p:cNvSpPr/>
          <p:nvPr/>
        </p:nvSpPr>
        <p:spPr>
          <a:xfrm>
            <a:off x="8046719" y="2011680"/>
            <a:ext cx="3520440" cy="2743200"/>
          </a:xfrm>
          <a:prstGeom prst="roundRect">
            <a:avLst>
              <a:gd name="adj" fmla="val 4666"/>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2194560"/>
            <a:ext cx="1371600" cy="548640"/>
          </a:xfrm>
          <a:prstGeom prst="rect">
            <a:avLst/>
          </a:prstGeom>
          <a:noFill/>
        </p:spPr>
        <p:txBody>
          <a:bodyPr wrap="square" lIns="0" rIns="0" tIns="0" bIns="0" anchor="t">
            <a:spAutoFit/>
          </a:bodyPr>
          <a:lstStyle/>
          <a:p>
            <a:pPr algn="l">
              <a:lnSpc>
                <a:spcPct val="110000"/>
              </a:lnSpc>
              <a:spcAft>
                <a:spcPts val="0"/>
              </a:spcAft>
            </a:pPr>
            <a:r>
              <a:rPr sz="3200" b="1">
                <a:solidFill>
                  <a:srgbClr val="3BE3C1"/>
                </a:solidFill>
                <a:latin typeface="Inter"/>
                <a:ea typeface="Inter"/>
                <a:cs typeface="Inter"/>
              </a:rPr>
              <a:t>03</a:t>
            </a:r>
          </a:p>
        </p:txBody>
      </p:sp>
      <p:sp>
        <p:nvSpPr>
          <p:cNvPr id="15" name="TextBox 14"/>
          <p:cNvSpPr txBox="1"/>
          <p:nvPr/>
        </p:nvSpPr>
        <p:spPr>
          <a:xfrm>
            <a:off x="8321040" y="2788920"/>
            <a:ext cx="3017520" cy="822960"/>
          </a:xfrm>
          <a:prstGeom prst="rect">
            <a:avLst/>
          </a:prstGeom>
          <a:noFill/>
        </p:spPr>
        <p:txBody>
          <a:bodyPr wrap="square" lIns="0" rIns="0" tIns="0" bIns="0" anchor="t">
            <a:spAutoFit/>
          </a:bodyPr>
          <a:lstStyle/>
          <a:p>
            <a:pPr algn="l">
              <a:lnSpc>
                <a:spcPct val="105000"/>
              </a:lnSpc>
              <a:spcAft>
                <a:spcPts val="0"/>
              </a:spcAft>
            </a:pPr>
            <a:r>
              <a:rPr sz="2400" b="1">
                <a:solidFill>
                  <a:srgbClr val="FFFFFF"/>
                </a:solidFill>
                <a:latin typeface="Inter"/>
                <a:ea typeface="Inter"/>
                <a:cs typeface="Inter"/>
              </a:rPr>
              <a:t>Which payment is safe?</a:t>
            </a:r>
          </a:p>
        </p:txBody>
      </p:sp>
      <p:sp>
        <p:nvSpPr>
          <p:cNvPr id="16" name="TextBox 15"/>
          <p:cNvSpPr txBox="1"/>
          <p:nvPr/>
        </p:nvSpPr>
        <p:spPr>
          <a:xfrm>
            <a:off x="8321040" y="3611880"/>
            <a:ext cx="3017520" cy="1051560"/>
          </a:xfrm>
          <a:prstGeom prst="rect">
            <a:avLst/>
          </a:prstGeom>
          <a:noFill/>
        </p:spPr>
        <p:txBody>
          <a:bodyPr wrap="square" lIns="0" rIns="0" tIns="0" bIns="0" anchor="t">
            <a:spAutoFit/>
          </a:bodyPr>
          <a:lstStyle/>
          <a:p>
            <a:pPr algn="l">
              <a:lnSpc>
                <a:spcPct val="115000"/>
              </a:lnSpc>
              <a:spcAft>
                <a:spcPts val="0"/>
              </a:spcAft>
            </a:pPr>
            <a:r>
              <a:rPr sz="1800" b="0">
                <a:solidFill>
                  <a:srgbClr val="B4C1D2"/>
                </a:solidFill>
                <a:latin typeface="Inter"/>
                <a:ea typeface="Inter"/>
                <a:cs typeface="Inter"/>
              </a:rPr>
              <a:t>Duplicate invoices and rushed approvals put working capital at risk.</a:t>
            </a:r>
          </a:p>
        </p:txBody>
      </p:sp>
      <p:sp>
        <p:nvSpPr>
          <p:cNvPr id="17" name="Rounded Rectangle 16"/>
          <p:cNvSpPr/>
          <p:nvPr/>
        </p:nvSpPr>
        <p:spPr>
          <a:xfrm>
            <a:off x="640080" y="4937760"/>
            <a:ext cx="10908792" cy="658368"/>
          </a:xfrm>
          <a:prstGeom prst="roundRect">
            <a:avLst>
              <a:gd name="adj" fmla="val 19444"/>
            </a:avLst>
          </a:prstGeom>
          <a:solidFill>
            <a:srgbClr val="17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937760"/>
            <a:ext cx="10424160" cy="658368"/>
          </a:xfrm>
          <a:prstGeom prst="rect">
            <a:avLst/>
          </a:prstGeom>
          <a:noFill/>
        </p:spPr>
        <p:txBody>
          <a:bodyPr wrap="square" lIns="0" rIns="0" tIns="0" bIns="0" anchor="ctr">
            <a:spAutoFit/>
          </a:bodyPr>
          <a:lstStyle/>
          <a:p>
            <a:pPr algn="l">
              <a:lnSpc>
                <a:spcPct val="110000"/>
              </a:lnSpc>
              <a:spcAft>
                <a:spcPts val="0"/>
              </a:spcAft>
            </a:pPr>
            <a:r>
              <a:rPr sz="2200" b="1">
                <a:solidFill>
                  <a:srgbClr val="FFFFFF"/>
                </a:solidFill>
                <a:latin typeface="Inter"/>
                <a:ea typeface="Inter"/>
                <a:cs typeface="Inter"/>
              </a:rPr>
              <a:t>The gap is not a lack of data.  </a:t>
            </a:r>
            <a:r>
              <a:rPr sz="2200" b="1">
                <a:solidFill>
                  <a:srgbClr val="3BE3C1"/>
                </a:solidFill>
                <a:latin typeface="Inter"/>
                <a:ea typeface="Inter"/>
                <a:cs typeface="Inter"/>
              </a:rPr>
              <a:t>It is the lack of a trusted next decision.</a:t>
            </a:r>
          </a:p>
        </p:txBody>
      </p:sp>
      <p:sp>
        <p:nvSpPr>
          <p:cNvPr id="19" name="TextBox 18"/>
          <p:cNvSpPr txBox="1"/>
          <p:nvPr/>
        </p:nvSpPr>
        <p:spPr>
          <a:xfrm>
            <a:off x="640080" y="5715000"/>
            <a:ext cx="10908792" cy="594360"/>
          </a:xfrm>
          <a:prstGeom prst="rect">
            <a:avLst/>
          </a:prstGeom>
          <a:noFill/>
        </p:spPr>
        <p:txBody>
          <a:bodyPr wrap="square" lIns="0" rIns="0" tIns="0" bIns="0" anchor="t">
            <a:spAutoFit/>
          </a:bodyPr>
          <a:lstStyle/>
          <a:p>
            <a:pPr algn="l">
              <a:lnSpc>
                <a:spcPct val="110000"/>
              </a:lnSpc>
              <a:spcAft>
                <a:spcPts val="0"/>
              </a:spcAft>
            </a:pPr>
            <a:r>
              <a:rPr sz="1700" b="0">
                <a:solidFill>
                  <a:srgbClr val="B4C1D2"/>
                </a:solidFill>
                <a:latin typeface="Inter"/>
                <a:ea typeface="Inter"/>
                <a:cs typeface="Inter"/>
              </a:rPr>
              <a:t>We start with SMEs in Bangladesh. The engine is not local: 37 languages, 150+ currencies.</a:t>
            </a:r>
          </a:p>
        </p:txBody>
      </p:sp>
      <p:cxnSp>
        <p:nvCxnSpPr>
          <p:cNvPr id="20" name="Connector 19"/>
          <p:cNvCxnSpPr/>
          <p:nvPr/>
        </p:nvCxnSpPr>
        <p:spPr>
          <a:xfrm>
            <a:off x="640080" y="6382512"/>
            <a:ext cx="10911535" cy="0"/>
          </a:xfrm>
          <a:prstGeom prst="line">
            <a:avLst/>
          </a:prstGeom>
          <a:ln>
            <a:solidFill>
              <a:srgbClr val="2A3F5C"/>
            </a:solidFill>
          </a:ln>
        </p:spPr>
        <p:style>
          <a:lnRef idx="2">
            <a:schemeClr val="accent1"/>
          </a:lnRef>
          <a:fillRef idx="0">
            <a:schemeClr val="accent1"/>
          </a:fillRef>
          <a:effectRef idx="1">
            <a:schemeClr val="accent1"/>
          </a:effectRef>
          <a:fontRef idx="minor">
            <a:schemeClr val="tx1"/>
          </a:fontRef>
        </p:style>
      </p:cxnSp>
      <p:pic>
        <p:nvPicPr>
          <p:cNvPr id="21" name="Picture 20" descr="logo.png"/>
          <p:cNvPicPr>
            <a:picLocks noChangeAspect="1"/>
          </p:cNvPicPr>
          <p:nvPr/>
        </p:nvPicPr>
        <p:blipFill>
          <a:blip r:embed="rId3"/>
          <a:stretch>
            <a:fillRect/>
          </a:stretch>
        </p:blipFill>
        <p:spPr>
          <a:xfrm>
            <a:off x="640080" y="6446520"/>
            <a:ext cx="292608" cy="292608"/>
          </a:xfrm>
          <a:prstGeom prst="rect">
            <a:avLst/>
          </a:prstGeom>
        </p:spPr>
      </p:pic>
      <p:sp>
        <p:nvSpPr>
          <p:cNvPr id="22" name="TextBox 21"/>
          <p:cNvSpPr txBox="1"/>
          <p:nvPr/>
        </p:nvSpPr>
        <p:spPr>
          <a:xfrm>
            <a:off x="1024128" y="6464808"/>
            <a:ext cx="7772400" cy="274320"/>
          </a:xfrm>
          <a:prstGeom prst="rect">
            <a:avLst/>
          </a:prstGeom>
          <a:noFill/>
        </p:spPr>
        <p:txBody>
          <a:bodyPr wrap="square" lIns="0" rIns="0" tIns="0" bIns="0" anchor="ctr">
            <a:spAutoFit/>
          </a:bodyPr>
          <a:lstStyle/>
          <a:p>
            <a:pPr algn="l">
              <a:lnSpc>
                <a:spcPct val="110000"/>
              </a:lnSpc>
              <a:spcAft>
                <a:spcPts val="0"/>
              </a:spcAft>
            </a:pPr>
            <a:r>
              <a:rPr sz="1400" b="1">
                <a:solidFill>
                  <a:srgbClr val="B4C1D2"/>
                </a:solidFill>
                <a:latin typeface="Inter"/>
                <a:ea typeface="Inter"/>
                <a:cs typeface="Inter"/>
              </a:rPr>
              <a:t>Capzoryx Copilot</a:t>
            </a:r>
            <a:r>
              <a:rPr sz="1400" b="0">
                <a:solidFill>
                  <a:srgbClr val="8FA0B5"/>
                </a:solidFill>
                <a:latin typeface="Inter"/>
                <a:ea typeface="Inter"/>
                <a:cs typeface="Inter"/>
              </a:rPr>
              <a:t>  ·  2026 Shenzhen International FinTechathon  ·  Topic E</a:t>
            </a:r>
          </a:p>
        </p:txBody>
      </p:sp>
      <p:sp>
        <p:nvSpPr>
          <p:cNvPr id="23" name="TextBox 22"/>
          <p:cNvSpPr txBox="1"/>
          <p:nvPr/>
        </p:nvSpPr>
        <p:spPr>
          <a:xfrm>
            <a:off x="9722815" y="6464808"/>
            <a:ext cx="1828800" cy="274320"/>
          </a:xfrm>
          <a:prstGeom prst="rect">
            <a:avLst/>
          </a:prstGeom>
          <a:noFill/>
        </p:spPr>
        <p:txBody>
          <a:bodyPr wrap="square" lIns="0" rIns="0" tIns="0" bIns="0" anchor="ctr">
            <a:spAutoFit/>
          </a:bodyPr>
          <a:lstStyle/>
          <a:p>
            <a:pPr algn="r">
              <a:lnSpc>
                <a:spcPct val="110000"/>
              </a:lnSpc>
              <a:spcAft>
                <a:spcPts val="0"/>
              </a:spcAft>
            </a:pPr>
            <a:r>
              <a:rPr sz="1400" b="1">
                <a:solidFill>
                  <a:srgbClr val="B4C1D2"/>
                </a:solidFill>
                <a:latin typeface="Inter"/>
                <a:ea typeface="Inter"/>
                <a:cs typeface="Inter"/>
              </a:rPr>
              <a:t>02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lIns="0" rIns="0" tIns="0" bIns="0" anchor="t">
            <a:spAutoFit/>
          </a:bodyPr>
          <a:lstStyle/>
          <a:p>
            <a:pPr algn="l">
              <a:lnSpc>
                <a:spcPct val="110000"/>
              </a:lnSpc>
              <a:spcAft>
                <a:spcPts val="0"/>
              </a:spcAft>
            </a:pPr>
            <a:r>
              <a:rPr sz="1400" b="1" spc="200">
                <a:solidFill>
                  <a:srgbClr val="3BE3C1"/>
                </a:solidFill>
                <a:latin typeface="Inter"/>
                <a:ea typeface="Inter"/>
                <a:cs typeface="Inter"/>
              </a:rPr>
              <a:t>02 / THE CAPZORYX APPROACH</a:t>
            </a:r>
          </a:p>
        </p:txBody>
      </p:sp>
      <p:sp>
        <p:nvSpPr>
          <p:cNvPr id="3" name="TextBox 2"/>
          <p:cNvSpPr txBox="1"/>
          <p:nvPr/>
        </p:nvSpPr>
        <p:spPr>
          <a:xfrm>
            <a:off x="640080" y="713232"/>
            <a:ext cx="10881360" cy="731520"/>
          </a:xfrm>
          <a:prstGeom prst="rect">
            <a:avLst/>
          </a:prstGeom>
          <a:noFill/>
        </p:spPr>
        <p:txBody>
          <a:bodyPr wrap="square" lIns="0" rIns="0" tIns="0" bIns="0" anchor="t">
            <a:spAutoFit/>
          </a:bodyPr>
          <a:lstStyle/>
          <a:p>
            <a:pPr algn="l">
              <a:lnSpc>
                <a:spcPct val="100000"/>
              </a:lnSpc>
              <a:spcAft>
                <a:spcPts val="0"/>
              </a:spcAft>
            </a:pPr>
            <a:r>
              <a:rPr sz="3600" b="1">
                <a:solidFill>
                  <a:srgbClr val="FFFFFF"/>
                </a:solidFill>
                <a:latin typeface="Inter"/>
                <a:ea typeface="Inter"/>
                <a:cs typeface="Inter"/>
              </a:rPr>
              <a:t>A verified decision, not a blind guess.</a:t>
            </a:r>
          </a:p>
        </p:txBody>
      </p:sp>
      <p:sp>
        <p:nvSpPr>
          <p:cNvPr id="4" name="TextBox 3"/>
          <p:cNvSpPr txBox="1"/>
          <p:nvPr/>
        </p:nvSpPr>
        <p:spPr>
          <a:xfrm>
            <a:off x="640080" y="1389888"/>
            <a:ext cx="10881360" cy="411480"/>
          </a:xfrm>
          <a:prstGeom prst="rect">
            <a:avLst/>
          </a:prstGeom>
          <a:noFill/>
        </p:spPr>
        <p:txBody>
          <a:bodyPr wrap="square" lIns="0" rIns="0" tIns="0" bIns="0" anchor="t">
            <a:spAutoFit/>
          </a:bodyPr>
          <a:lstStyle/>
          <a:p>
            <a:pPr algn="l">
              <a:lnSpc>
                <a:spcPct val="110000"/>
              </a:lnSpc>
              <a:spcAft>
                <a:spcPts val="0"/>
              </a:spcAft>
            </a:pPr>
            <a:r>
              <a:rPr sz="2000" b="0">
                <a:solidFill>
                  <a:srgbClr val="B4C1D2"/>
                </a:solidFill>
                <a:latin typeface="Inter"/>
                <a:ea typeface="Inter"/>
                <a:cs typeface="Inter"/>
              </a:rPr>
              <a:t>One workspace turns business records into informed, controlled action.</a:t>
            </a:r>
          </a:p>
        </p:txBody>
      </p:sp>
      <p:sp>
        <p:nvSpPr>
          <p:cNvPr id="5" name="Rounded Rectangle 4"/>
          <p:cNvSpPr/>
          <p:nvPr/>
        </p:nvSpPr>
        <p:spPr>
          <a:xfrm>
            <a:off x="640080" y="2057400"/>
            <a:ext cx="3520440" cy="2377440"/>
          </a:xfrm>
          <a:prstGeom prst="roundRect">
            <a:avLst>
              <a:gd name="adj" fmla="val 5384"/>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395728"/>
            <a:ext cx="91440" cy="457200"/>
          </a:xfrm>
          <a:prstGeom prst="roundRect">
            <a:avLst>
              <a:gd name="adj" fmla="val 50000"/>
            </a:avLst>
          </a:prstGeom>
          <a:solidFill>
            <a:srgbClr val="3BE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359152"/>
            <a:ext cx="2743200" cy="548640"/>
          </a:xfrm>
          <a:prstGeom prst="rect">
            <a:avLst/>
          </a:prstGeom>
          <a:noFill/>
        </p:spPr>
        <p:txBody>
          <a:bodyPr wrap="square" lIns="0" rIns="0" tIns="0" bIns="0" anchor="t">
            <a:spAutoFit/>
          </a:bodyPr>
          <a:lstStyle/>
          <a:p>
            <a:pPr algn="l">
              <a:lnSpc>
                <a:spcPct val="110000"/>
              </a:lnSpc>
              <a:spcAft>
                <a:spcPts val="0"/>
              </a:spcAft>
            </a:pPr>
            <a:r>
              <a:rPr sz="2800" b="1">
                <a:solidFill>
                  <a:srgbClr val="FFFFFF"/>
                </a:solidFill>
                <a:latin typeface="Inter"/>
                <a:ea typeface="Inter"/>
                <a:cs typeface="Inter"/>
              </a:rPr>
              <a:t>SEE</a:t>
            </a:r>
          </a:p>
        </p:txBody>
      </p:sp>
      <p:sp>
        <p:nvSpPr>
          <p:cNvPr id="8" name="TextBox 7"/>
          <p:cNvSpPr txBox="1"/>
          <p:nvPr/>
        </p:nvSpPr>
        <p:spPr>
          <a:xfrm>
            <a:off x="914400" y="3017520"/>
            <a:ext cx="3017520" cy="1325880"/>
          </a:xfrm>
          <a:prstGeom prst="rect">
            <a:avLst/>
          </a:prstGeom>
          <a:noFill/>
        </p:spPr>
        <p:txBody>
          <a:bodyPr wrap="square" lIns="0" rIns="0" tIns="0" bIns="0" anchor="t">
            <a:spAutoFit/>
          </a:bodyPr>
          <a:lstStyle/>
          <a:p>
            <a:pPr algn="l">
              <a:lnSpc>
                <a:spcPct val="112000"/>
              </a:lnSpc>
              <a:spcAft>
                <a:spcPts val="0"/>
              </a:spcAft>
            </a:pPr>
            <a:r>
              <a:rPr sz="2000" b="0">
                <a:solidFill>
                  <a:srgbClr val="B4C1D2"/>
                </a:solidFill>
                <a:latin typeface="Inter"/>
                <a:ea typeface="Inter"/>
                <a:cs typeface="Inter"/>
              </a:rPr>
              <a:t>Bills, balances, due dates and a cash outlook for 7 and 30 days.</a:t>
            </a:r>
          </a:p>
        </p:txBody>
      </p:sp>
      <p:sp>
        <p:nvSpPr>
          <p:cNvPr id="9" name="Rounded Rectangle 8"/>
          <p:cNvSpPr/>
          <p:nvPr/>
        </p:nvSpPr>
        <p:spPr>
          <a:xfrm>
            <a:off x="4343400" y="2057400"/>
            <a:ext cx="3520440" cy="2377440"/>
          </a:xfrm>
          <a:prstGeom prst="roundRect">
            <a:avLst>
              <a:gd name="adj" fmla="val 5384"/>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617720" y="2395728"/>
            <a:ext cx="91440" cy="457200"/>
          </a:xfrm>
          <a:prstGeom prst="roundRect">
            <a:avLst>
              <a:gd name="adj" fmla="val 50000"/>
            </a:avLst>
          </a:prstGeom>
          <a:solidFill>
            <a:srgbClr val="6F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2359152"/>
            <a:ext cx="2743200" cy="548640"/>
          </a:xfrm>
          <a:prstGeom prst="rect">
            <a:avLst/>
          </a:prstGeom>
          <a:noFill/>
        </p:spPr>
        <p:txBody>
          <a:bodyPr wrap="square" lIns="0" rIns="0" tIns="0" bIns="0" anchor="t">
            <a:spAutoFit/>
          </a:bodyPr>
          <a:lstStyle/>
          <a:p>
            <a:pPr algn="l">
              <a:lnSpc>
                <a:spcPct val="110000"/>
              </a:lnSpc>
              <a:spcAft>
                <a:spcPts val="0"/>
              </a:spcAft>
            </a:pPr>
            <a:r>
              <a:rPr sz="2800" b="1">
                <a:solidFill>
                  <a:srgbClr val="FFFFFF"/>
                </a:solidFill>
                <a:latin typeface="Inter"/>
                <a:ea typeface="Inter"/>
                <a:cs typeface="Inter"/>
              </a:rPr>
              <a:t>DECIDE</a:t>
            </a:r>
          </a:p>
        </p:txBody>
      </p:sp>
      <p:sp>
        <p:nvSpPr>
          <p:cNvPr id="12" name="TextBox 11"/>
          <p:cNvSpPr txBox="1"/>
          <p:nvPr/>
        </p:nvSpPr>
        <p:spPr>
          <a:xfrm>
            <a:off x="4617720" y="3017520"/>
            <a:ext cx="3017520" cy="1325880"/>
          </a:xfrm>
          <a:prstGeom prst="rect">
            <a:avLst/>
          </a:prstGeom>
          <a:noFill/>
        </p:spPr>
        <p:txBody>
          <a:bodyPr wrap="square" lIns="0" rIns="0" tIns="0" bIns="0" anchor="t">
            <a:spAutoFit/>
          </a:bodyPr>
          <a:lstStyle/>
          <a:p>
            <a:pPr algn="l">
              <a:lnSpc>
                <a:spcPct val="112000"/>
              </a:lnSpc>
              <a:spcAft>
                <a:spcPts val="0"/>
              </a:spcAft>
            </a:pPr>
            <a:r>
              <a:rPr sz="2000" b="0">
                <a:solidFill>
                  <a:srgbClr val="B4C1D2"/>
                </a:solidFill>
                <a:latin typeface="Inter"/>
                <a:ea typeface="Inter"/>
                <a:cs typeface="Inter"/>
              </a:rPr>
              <a:t>Compare loans by effective rate, total cost and fit.</a:t>
            </a:r>
          </a:p>
        </p:txBody>
      </p:sp>
      <p:sp>
        <p:nvSpPr>
          <p:cNvPr id="13" name="Rounded Rectangle 12"/>
          <p:cNvSpPr/>
          <p:nvPr/>
        </p:nvSpPr>
        <p:spPr>
          <a:xfrm>
            <a:off x="8046719" y="2057400"/>
            <a:ext cx="3520440" cy="2377440"/>
          </a:xfrm>
          <a:prstGeom prst="roundRect">
            <a:avLst>
              <a:gd name="adj" fmla="val 5384"/>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21040" y="2395728"/>
            <a:ext cx="91440" cy="457200"/>
          </a:xfrm>
          <a:prstGeom prst="roundRect">
            <a:avLst>
              <a:gd name="adj" fmla="val 50000"/>
            </a:avLst>
          </a:prstGeom>
          <a:solidFill>
            <a:srgbClr val="C7F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9640" y="2359152"/>
            <a:ext cx="2743200" cy="548640"/>
          </a:xfrm>
          <a:prstGeom prst="rect">
            <a:avLst/>
          </a:prstGeom>
          <a:noFill/>
        </p:spPr>
        <p:txBody>
          <a:bodyPr wrap="square" lIns="0" rIns="0" tIns="0" bIns="0" anchor="t">
            <a:spAutoFit/>
          </a:bodyPr>
          <a:lstStyle/>
          <a:p>
            <a:pPr algn="l">
              <a:lnSpc>
                <a:spcPct val="110000"/>
              </a:lnSpc>
              <a:spcAft>
                <a:spcPts val="0"/>
              </a:spcAft>
            </a:pPr>
            <a:r>
              <a:rPr sz="2800" b="1">
                <a:solidFill>
                  <a:srgbClr val="FFFFFF"/>
                </a:solidFill>
                <a:latin typeface="Inter"/>
                <a:ea typeface="Inter"/>
                <a:cs typeface="Inter"/>
              </a:rPr>
              <a:t>CONTROL</a:t>
            </a:r>
          </a:p>
        </p:txBody>
      </p:sp>
      <p:sp>
        <p:nvSpPr>
          <p:cNvPr id="16" name="TextBox 15"/>
          <p:cNvSpPr txBox="1"/>
          <p:nvPr/>
        </p:nvSpPr>
        <p:spPr>
          <a:xfrm>
            <a:off x="8321040" y="3017520"/>
            <a:ext cx="3017520" cy="1325880"/>
          </a:xfrm>
          <a:prstGeom prst="rect">
            <a:avLst/>
          </a:prstGeom>
          <a:noFill/>
        </p:spPr>
        <p:txBody>
          <a:bodyPr wrap="square" lIns="0" rIns="0" tIns="0" bIns="0" anchor="t">
            <a:spAutoFit/>
          </a:bodyPr>
          <a:lstStyle/>
          <a:p>
            <a:pPr algn="l">
              <a:lnSpc>
                <a:spcPct val="112000"/>
              </a:lnSpc>
              <a:spcAft>
                <a:spcPts val="0"/>
              </a:spcAft>
            </a:pPr>
            <a:r>
              <a:rPr sz="2000" b="0">
                <a:solidFill>
                  <a:srgbClr val="B4C1D2"/>
                </a:solidFill>
                <a:latin typeface="Inter"/>
                <a:ea typeface="Inter"/>
                <a:cs typeface="Inter"/>
              </a:rPr>
              <a:t>A second person approves; every step is audited.</a:t>
            </a:r>
          </a:p>
        </p:txBody>
      </p:sp>
      <p:sp>
        <p:nvSpPr>
          <p:cNvPr id="17" name="Rounded Rectangle 16"/>
          <p:cNvSpPr/>
          <p:nvPr/>
        </p:nvSpPr>
        <p:spPr>
          <a:xfrm>
            <a:off x="640080" y="4709160"/>
            <a:ext cx="10908792" cy="914400"/>
          </a:xfrm>
          <a:prstGeom prst="roundRect">
            <a:avLst>
              <a:gd name="adj" fmla="val 14000"/>
            </a:avLst>
          </a:prstGeom>
          <a:solidFill>
            <a:srgbClr val="172A44"/>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709160"/>
            <a:ext cx="2560320" cy="914400"/>
          </a:xfrm>
          <a:prstGeom prst="rect">
            <a:avLst/>
          </a:prstGeom>
          <a:noFill/>
        </p:spPr>
        <p:txBody>
          <a:bodyPr wrap="square" lIns="0" rIns="0" tIns="0" bIns="0" anchor="ctr">
            <a:spAutoFit/>
          </a:bodyPr>
          <a:lstStyle/>
          <a:p>
            <a:pPr algn="l">
              <a:lnSpc>
                <a:spcPct val="110000"/>
              </a:lnSpc>
              <a:spcAft>
                <a:spcPts val="0"/>
              </a:spcAft>
            </a:pPr>
            <a:r>
              <a:rPr sz="1900" b="1">
                <a:solidFill>
                  <a:srgbClr val="FFFFFF"/>
                </a:solidFill>
                <a:latin typeface="Inter"/>
                <a:ea typeface="Inter"/>
                <a:cs typeface="Inter"/>
              </a:rPr>
              <a:t>VERIFIED EVIDENCE</a:t>
            </a:r>
          </a:p>
        </p:txBody>
      </p:sp>
      <p:sp>
        <p:nvSpPr>
          <p:cNvPr id="19" name="Chevron 18"/>
          <p:cNvSpPr/>
          <p:nvPr/>
        </p:nvSpPr>
        <p:spPr>
          <a:xfrm>
            <a:off x="3447288" y="5010912"/>
            <a:ext cx="228600" cy="320040"/>
          </a:xfrm>
          <a:prstGeom prst="chevron">
            <a:avLst/>
          </a:prstGeom>
          <a:solidFill>
            <a:srgbClr val="3BE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0" y="4709160"/>
            <a:ext cx="2560320" cy="914400"/>
          </a:xfrm>
          <a:prstGeom prst="rect">
            <a:avLst/>
          </a:prstGeom>
          <a:noFill/>
        </p:spPr>
        <p:txBody>
          <a:bodyPr wrap="square" lIns="0" rIns="0" tIns="0" bIns="0" anchor="ctr">
            <a:spAutoFit/>
          </a:bodyPr>
          <a:lstStyle/>
          <a:p>
            <a:pPr algn="l">
              <a:lnSpc>
                <a:spcPct val="110000"/>
              </a:lnSpc>
              <a:spcAft>
                <a:spcPts val="0"/>
              </a:spcAft>
            </a:pPr>
            <a:r>
              <a:rPr sz="1900" b="1">
                <a:solidFill>
                  <a:srgbClr val="FFFFFF"/>
                </a:solidFill>
                <a:latin typeface="Inter"/>
                <a:ea typeface="Inter"/>
                <a:cs typeface="Inter"/>
              </a:rPr>
              <a:t>EXACT MATH</a:t>
            </a:r>
          </a:p>
        </p:txBody>
      </p:sp>
      <p:sp>
        <p:nvSpPr>
          <p:cNvPr id="21" name="Chevron 20"/>
          <p:cNvSpPr/>
          <p:nvPr/>
        </p:nvSpPr>
        <p:spPr>
          <a:xfrm>
            <a:off x="5641848" y="5010912"/>
            <a:ext cx="228600" cy="320040"/>
          </a:xfrm>
          <a:prstGeom prst="chevron">
            <a:avLst/>
          </a:prstGeom>
          <a:solidFill>
            <a:srgbClr val="3BE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0" y="4709160"/>
            <a:ext cx="2560320" cy="914400"/>
          </a:xfrm>
          <a:prstGeom prst="rect">
            <a:avLst/>
          </a:prstGeom>
          <a:noFill/>
        </p:spPr>
        <p:txBody>
          <a:bodyPr wrap="square" lIns="0" rIns="0" tIns="0" bIns="0" anchor="ctr">
            <a:spAutoFit/>
          </a:bodyPr>
          <a:lstStyle/>
          <a:p>
            <a:pPr algn="l">
              <a:lnSpc>
                <a:spcPct val="110000"/>
              </a:lnSpc>
              <a:spcAft>
                <a:spcPts val="0"/>
              </a:spcAft>
            </a:pPr>
            <a:r>
              <a:rPr sz="1900" b="1">
                <a:solidFill>
                  <a:srgbClr val="FFFFFF"/>
                </a:solidFill>
                <a:latin typeface="Inter"/>
                <a:ea typeface="Inter"/>
                <a:cs typeface="Inter"/>
              </a:rPr>
              <a:t>POLICY + APPROVAL</a:t>
            </a:r>
          </a:p>
        </p:txBody>
      </p:sp>
      <p:sp>
        <p:nvSpPr>
          <p:cNvPr id="23" name="Chevron 22"/>
          <p:cNvSpPr/>
          <p:nvPr/>
        </p:nvSpPr>
        <p:spPr>
          <a:xfrm>
            <a:off x="8796528" y="5010912"/>
            <a:ext cx="228600" cy="320040"/>
          </a:xfrm>
          <a:prstGeom prst="chevron">
            <a:avLst/>
          </a:prstGeom>
          <a:solidFill>
            <a:srgbClr val="3BE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81160" y="4709160"/>
            <a:ext cx="2560320" cy="914400"/>
          </a:xfrm>
          <a:prstGeom prst="rect">
            <a:avLst/>
          </a:prstGeom>
          <a:noFill/>
        </p:spPr>
        <p:txBody>
          <a:bodyPr wrap="square" lIns="0" rIns="0" tIns="0" bIns="0" anchor="ctr">
            <a:spAutoFit/>
          </a:bodyPr>
          <a:lstStyle/>
          <a:p>
            <a:pPr algn="l">
              <a:lnSpc>
                <a:spcPct val="110000"/>
              </a:lnSpc>
              <a:spcAft>
                <a:spcPts val="0"/>
              </a:spcAft>
            </a:pPr>
            <a:r>
              <a:rPr sz="1900" b="1">
                <a:solidFill>
                  <a:srgbClr val="3BE3C1"/>
                </a:solidFill>
                <a:latin typeface="Inter"/>
                <a:ea typeface="Inter"/>
                <a:cs typeface="Inter"/>
              </a:rPr>
              <a:t>AUDIT</a:t>
            </a:r>
          </a:p>
        </p:txBody>
      </p:sp>
      <p:sp>
        <p:nvSpPr>
          <p:cNvPr id="25" name="TextBox 24"/>
          <p:cNvSpPr txBox="1"/>
          <p:nvPr/>
        </p:nvSpPr>
        <p:spPr>
          <a:xfrm>
            <a:off x="640080" y="5852160"/>
            <a:ext cx="10908792" cy="411480"/>
          </a:xfrm>
          <a:prstGeom prst="rect">
            <a:avLst/>
          </a:prstGeom>
          <a:noFill/>
        </p:spPr>
        <p:txBody>
          <a:bodyPr wrap="square" lIns="0" rIns="0" tIns="0" bIns="0" anchor="t">
            <a:spAutoFit/>
          </a:bodyPr>
          <a:lstStyle/>
          <a:p>
            <a:pPr algn="l">
              <a:lnSpc>
                <a:spcPct val="110000"/>
              </a:lnSpc>
              <a:spcAft>
                <a:spcPts val="0"/>
              </a:spcAft>
            </a:pPr>
            <a:r>
              <a:rPr sz="2000" b="1">
                <a:solidFill>
                  <a:srgbClr val="C7F36B"/>
                </a:solidFill>
                <a:latin typeface="Inter"/>
                <a:ea typeface="Inter"/>
                <a:cs typeface="Inter"/>
              </a:rPr>
              <a:t>AI may propose. Deterministic code calculates. People approve.</a:t>
            </a:r>
          </a:p>
        </p:txBody>
      </p:sp>
      <p:cxnSp>
        <p:nvCxnSpPr>
          <p:cNvPr id="26" name="Connector 25"/>
          <p:cNvCxnSpPr/>
          <p:nvPr/>
        </p:nvCxnSpPr>
        <p:spPr>
          <a:xfrm>
            <a:off x="640080" y="6382512"/>
            <a:ext cx="10911535" cy="0"/>
          </a:xfrm>
          <a:prstGeom prst="line">
            <a:avLst/>
          </a:prstGeom>
          <a:ln>
            <a:solidFill>
              <a:srgbClr val="2A3F5C"/>
            </a:solidFill>
          </a:ln>
        </p:spPr>
        <p:style>
          <a:lnRef idx="2">
            <a:schemeClr val="accent1"/>
          </a:lnRef>
          <a:fillRef idx="0">
            <a:schemeClr val="accent1"/>
          </a:fillRef>
          <a:effectRef idx="1">
            <a:schemeClr val="accent1"/>
          </a:effectRef>
          <a:fontRef idx="minor">
            <a:schemeClr val="tx1"/>
          </a:fontRef>
        </p:style>
      </p:cxnSp>
      <p:pic>
        <p:nvPicPr>
          <p:cNvPr id="27" name="Picture 26" descr="logo.png"/>
          <p:cNvPicPr>
            <a:picLocks noChangeAspect="1"/>
          </p:cNvPicPr>
          <p:nvPr/>
        </p:nvPicPr>
        <p:blipFill>
          <a:blip r:embed="rId3"/>
          <a:stretch>
            <a:fillRect/>
          </a:stretch>
        </p:blipFill>
        <p:spPr>
          <a:xfrm>
            <a:off x="640080" y="6446520"/>
            <a:ext cx="292608" cy="292608"/>
          </a:xfrm>
          <a:prstGeom prst="rect">
            <a:avLst/>
          </a:prstGeom>
        </p:spPr>
      </p:pic>
      <p:sp>
        <p:nvSpPr>
          <p:cNvPr id="28" name="TextBox 27"/>
          <p:cNvSpPr txBox="1"/>
          <p:nvPr/>
        </p:nvSpPr>
        <p:spPr>
          <a:xfrm>
            <a:off x="1024128" y="6464808"/>
            <a:ext cx="7772400" cy="274320"/>
          </a:xfrm>
          <a:prstGeom prst="rect">
            <a:avLst/>
          </a:prstGeom>
          <a:noFill/>
        </p:spPr>
        <p:txBody>
          <a:bodyPr wrap="square" lIns="0" rIns="0" tIns="0" bIns="0" anchor="ctr">
            <a:spAutoFit/>
          </a:bodyPr>
          <a:lstStyle/>
          <a:p>
            <a:pPr algn="l">
              <a:lnSpc>
                <a:spcPct val="110000"/>
              </a:lnSpc>
              <a:spcAft>
                <a:spcPts val="0"/>
              </a:spcAft>
            </a:pPr>
            <a:r>
              <a:rPr sz="1400" b="1">
                <a:solidFill>
                  <a:srgbClr val="B4C1D2"/>
                </a:solidFill>
                <a:latin typeface="Inter"/>
                <a:ea typeface="Inter"/>
                <a:cs typeface="Inter"/>
              </a:rPr>
              <a:t>Capzoryx Copilot</a:t>
            </a:r>
            <a:r>
              <a:rPr sz="1400" b="0">
                <a:solidFill>
                  <a:srgbClr val="8FA0B5"/>
                </a:solidFill>
                <a:latin typeface="Inter"/>
                <a:ea typeface="Inter"/>
                <a:cs typeface="Inter"/>
              </a:rPr>
              <a:t>  ·  2026 Shenzhen International FinTechathon  ·  Topic E</a:t>
            </a:r>
          </a:p>
        </p:txBody>
      </p:sp>
      <p:sp>
        <p:nvSpPr>
          <p:cNvPr id="29" name="TextBox 28"/>
          <p:cNvSpPr txBox="1"/>
          <p:nvPr/>
        </p:nvSpPr>
        <p:spPr>
          <a:xfrm>
            <a:off x="9722815" y="6464808"/>
            <a:ext cx="1828800" cy="274320"/>
          </a:xfrm>
          <a:prstGeom prst="rect">
            <a:avLst/>
          </a:prstGeom>
          <a:noFill/>
        </p:spPr>
        <p:txBody>
          <a:bodyPr wrap="square" lIns="0" rIns="0" tIns="0" bIns="0" anchor="ctr">
            <a:spAutoFit/>
          </a:bodyPr>
          <a:lstStyle/>
          <a:p>
            <a:pPr algn="r">
              <a:lnSpc>
                <a:spcPct val="110000"/>
              </a:lnSpc>
              <a:spcAft>
                <a:spcPts val="0"/>
              </a:spcAft>
            </a:pPr>
            <a:r>
              <a:rPr sz="1400" b="1">
                <a:solidFill>
                  <a:srgbClr val="B4C1D2"/>
                </a:solidFill>
                <a:latin typeface="Inter"/>
                <a:ea typeface="Inter"/>
                <a:cs typeface="Inter"/>
              </a:rPr>
              <a:t>03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lIns="0" rIns="0" tIns="0" bIns="0" anchor="t">
            <a:spAutoFit/>
          </a:bodyPr>
          <a:lstStyle/>
          <a:p>
            <a:pPr algn="l">
              <a:lnSpc>
                <a:spcPct val="110000"/>
              </a:lnSpc>
              <a:spcAft>
                <a:spcPts val="0"/>
              </a:spcAft>
            </a:pPr>
            <a:r>
              <a:rPr sz="1400" b="1" spc="200">
                <a:solidFill>
                  <a:srgbClr val="3BE3C1"/>
                </a:solidFill>
                <a:latin typeface="Inter"/>
                <a:ea typeface="Inter"/>
                <a:cs typeface="Inter"/>
              </a:rPr>
              <a:t>03 / THE PRODUCT: OVERVIEW</a:t>
            </a:r>
          </a:p>
        </p:txBody>
      </p:sp>
      <p:sp>
        <p:nvSpPr>
          <p:cNvPr id="3" name="TextBox 2"/>
          <p:cNvSpPr txBox="1"/>
          <p:nvPr/>
        </p:nvSpPr>
        <p:spPr>
          <a:xfrm>
            <a:off x="640080" y="713232"/>
            <a:ext cx="10881360" cy="731520"/>
          </a:xfrm>
          <a:prstGeom prst="rect">
            <a:avLst/>
          </a:prstGeom>
          <a:noFill/>
        </p:spPr>
        <p:txBody>
          <a:bodyPr wrap="square" lIns="0" rIns="0" tIns="0" bIns="0" anchor="t">
            <a:spAutoFit/>
          </a:bodyPr>
          <a:lstStyle/>
          <a:p>
            <a:pPr algn="l">
              <a:lnSpc>
                <a:spcPct val="100000"/>
              </a:lnSpc>
              <a:spcAft>
                <a:spcPts val="0"/>
              </a:spcAft>
            </a:pPr>
            <a:r>
              <a:rPr sz="3600" b="1">
                <a:solidFill>
                  <a:srgbClr val="FFFFFF"/>
                </a:solidFill>
                <a:latin typeface="Inter"/>
                <a:ea typeface="Inter"/>
                <a:cs typeface="Inter"/>
              </a:rPr>
              <a:t>From records to a clear financial picture.</a:t>
            </a:r>
          </a:p>
        </p:txBody>
      </p:sp>
      <p:pic>
        <p:nvPicPr>
          <p:cNvPr id="4" name="Picture 3" descr="The Overview screen with the sample business"/>
          <p:cNvPicPr>
            <a:picLocks noChangeAspect="1"/>
          </p:cNvPicPr>
          <p:nvPr/>
        </p:nvPicPr>
        <p:blipFill>
          <a:blip r:embed="rId3"/>
          <a:stretch>
            <a:fillRect/>
          </a:stretch>
        </p:blipFill>
        <p:spPr>
          <a:xfrm>
            <a:off x="612647" y="1298448"/>
            <a:ext cx="6912864" cy="4809744"/>
          </a:xfrm>
          <a:prstGeom prst="rect">
            <a:avLst/>
          </a:prstGeom>
        </p:spPr>
      </p:pic>
      <p:sp>
        <p:nvSpPr>
          <p:cNvPr id="5" name="TextBox 4"/>
          <p:cNvSpPr txBox="1"/>
          <p:nvPr/>
        </p:nvSpPr>
        <p:spPr>
          <a:xfrm>
            <a:off x="868680" y="6035040"/>
            <a:ext cx="6400800" cy="274320"/>
          </a:xfrm>
          <a:prstGeom prst="rect">
            <a:avLst/>
          </a:prstGeom>
          <a:noFill/>
        </p:spPr>
        <p:txBody>
          <a:bodyPr wrap="square" lIns="0" rIns="0" tIns="0" bIns="0" anchor="t">
            <a:spAutoFit/>
          </a:bodyPr>
          <a:lstStyle/>
          <a:p>
            <a:pPr algn="l">
              <a:lnSpc>
                <a:spcPct val="110000"/>
              </a:lnSpc>
              <a:spcAft>
                <a:spcPts val="0"/>
              </a:spcAft>
            </a:pPr>
            <a:r>
              <a:rPr sz="1400" b="0">
                <a:solidFill>
                  <a:srgbClr val="8FA0B5"/>
                </a:solidFill>
                <a:latin typeface="Inter"/>
                <a:ea typeface="Inter"/>
                <a:cs typeface="Inter"/>
              </a:rPr>
              <a:t>Real screen, local copy, fictional sample business.</a:t>
            </a:r>
          </a:p>
        </p:txBody>
      </p:sp>
      <p:sp>
        <p:nvSpPr>
          <p:cNvPr id="6" name="Rounded Rectangle 5"/>
          <p:cNvSpPr/>
          <p:nvPr/>
        </p:nvSpPr>
        <p:spPr>
          <a:xfrm>
            <a:off x="7772400" y="1600200"/>
            <a:ext cx="91440" cy="1234440"/>
          </a:xfrm>
          <a:prstGeom prst="roundRect">
            <a:avLst>
              <a:gd name="adj" fmla="val 50000"/>
            </a:avLst>
          </a:prstGeom>
          <a:solidFill>
            <a:srgbClr val="3BE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0" y="1572768"/>
            <a:ext cx="3520440" cy="502920"/>
          </a:xfrm>
          <a:prstGeom prst="rect">
            <a:avLst/>
          </a:prstGeom>
          <a:noFill/>
        </p:spPr>
        <p:txBody>
          <a:bodyPr wrap="square" lIns="0" rIns="0" tIns="0" bIns="0" anchor="t">
            <a:spAutoFit/>
          </a:bodyPr>
          <a:lstStyle/>
          <a:p>
            <a:pPr algn="l">
              <a:lnSpc>
                <a:spcPct val="110000"/>
              </a:lnSpc>
              <a:spcAft>
                <a:spcPts val="0"/>
              </a:spcAft>
            </a:pPr>
            <a:r>
              <a:rPr sz="2800" b="1">
                <a:solidFill>
                  <a:srgbClr val="3BE3C1"/>
                </a:solidFill>
                <a:latin typeface="Inter"/>
                <a:ea typeface="Inter"/>
                <a:cs typeface="Inter"/>
              </a:rPr>
              <a:t>BDT 150,000</a:t>
            </a:r>
          </a:p>
        </p:txBody>
      </p:sp>
      <p:sp>
        <p:nvSpPr>
          <p:cNvPr id="8" name="TextBox 7"/>
          <p:cNvSpPr txBox="1"/>
          <p:nvPr/>
        </p:nvSpPr>
        <p:spPr>
          <a:xfrm>
            <a:off x="8046720" y="2103120"/>
            <a:ext cx="3520440" cy="914400"/>
          </a:xfrm>
          <a:prstGeom prst="rect">
            <a:avLst/>
          </a:prstGeom>
          <a:noFill/>
        </p:spPr>
        <p:txBody>
          <a:bodyPr wrap="square" lIns="0" rIns="0" tIns="0" bIns="0" anchor="t">
            <a:spAutoFit/>
          </a:bodyPr>
          <a:lstStyle/>
          <a:p>
            <a:pPr algn="l">
              <a:lnSpc>
                <a:spcPct val="110000"/>
              </a:lnSpc>
              <a:spcAft>
                <a:spcPts val="0"/>
              </a:spcAft>
            </a:pPr>
            <a:r>
              <a:rPr sz="1700" b="0">
                <a:solidFill>
                  <a:srgbClr val="B4C1D2"/>
                </a:solidFill>
                <a:latin typeface="Inter"/>
                <a:ea typeface="Inter"/>
                <a:cs typeface="Inter"/>
              </a:rPr>
              <a:t>cleared balance, with an approximate USD value beside it</a:t>
            </a:r>
          </a:p>
        </p:txBody>
      </p:sp>
      <p:sp>
        <p:nvSpPr>
          <p:cNvPr id="9" name="Rounded Rectangle 8"/>
          <p:cNvSpPr/>
          <p:nvPr/>
        </p:nvSpPr>
        <p:spPr>
          <a:xfrm>
            <a:off x="7772400" y="3108960"/>
            <a:ext cx="91440" cy="1234440"/>
          </a:xfrm>
          <a:prstGeom prst="roundRect">
            <a:avLst>
              <a:gd name="adj" fmla="val 50000"/>
            </a:avLst>
          </a:prstGeom>
          <a:solidFill>
            <a:srgbClr val="F5B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3081528"/>
            <a:ext cx="3520440" cy="502920"/>
          </a:xfrm>
          <a:prstGeom prst="rect">
            <a:avLst/>
          </a:prstGeom>
          <a:noFill/>
        </p:spPr>
        <p:txBody>
          <a:bodyPr wrap="square" lIns="0" rIns="0" tIns="0" bIns="0" anchor="t">
            <a:spAutoFit/>
          </a:bodyPr>
          <a:lstStyle/>
          <a:p>
            <a:pPr algn="l">
              <a:lnSpc>
                <a:spcPct val="110000"/>
              </a:lnSpc>
              <a:spcAft>
                <a:spcPts val="0"/>
              </a:spcAft>
            </a:pPr>
            <a:r>
              <a:rPr sz="2800" b="1">
                <a:solidFill>
                  <a:srgbClr val="F5B642"/>
                </a:solidFill>
                <a:latin typeface="Inter"/>
                <a:ea typeface="Inter"/>
                <a:cs typeface="Inter"/>
              </a:rPr>
              <a:t>7 and 30 days</a:t>
            </a:r>
          </a:p>
        </p:txBody>
      </p:sp>
      <p:sp>
        <p:nvSpPr>
          <p:cNvPr id="11" name="TextBox 10"/>
          <p:cNvSpPr txBox="1"/>
          <p:nvPr/>
        </p:nvSpPr>
        <p:spPr>
          <a:xfrm>
            <a:off x="8046720" y="3611880"/>
            <a:ext cx="3520440" cy="914400"/>
          </a:xfrm>
          <a:prstGeom prst="rect">
            <a:avLst/>
          </a:prstGeom>
          <a:noFill/>
        </p:spPr>
        <p:txBody>
          <a:bodyPr wrap="square" lIns="0" rIns="0" tIns="0" bIns="0" anchor="t">
            <a:spAutoFit/>
          </a:bodyPr>
          <a:lstStyle/>
          <a:p>
            <a:pPr algn="l">
              <a:lnSpc>
                <a:spcPct val="110000"/>
              </a:lnSpc>
              <a:spcAft>
                <a:spcPts val="0"/>
              </a:spcAft>
            </a:pPr>
            <a:r>
              <a:rPr sz="1700" b="0">
                <a:solidFill>
                  <a:srgbClr val="B4C1D2"/>
                </a:solidFill>
                <a:latin typeface="Inter"/>
                <a:ea typeface="Inter"/>
                <a:cs typeface="Inter"/>
              </a:rPr>
              <a:t>a deterministic cash outlook that flags the first reserve breach</a:t>
            </a:r>
          </a:p>
        </p:txBody>
      </p:sp>
      <p:sp>
        <p:nvSpPr>
          <p:cNvPr id="12" name="Rounded Rectangle 11"/>
          <p:cNvSpPr/>
          <p:nvPr/>
        </p:nvSpPr>
        <p:spPr>
          <a:xfrm>
            <a:off x="7772400" y="4617720"/>
            <a:ext cx="91440" cy="1234440"/>
          </a:xfrm>
          <a:prstGeom prst="roundRect">
            <a:avLst>
              <a:gd name="adj" fmla="val 50000"/>
            </a:avLst>
          </a:prstGeom>
          <a:solidFill>
            <a:srgbClr val="C7F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4590288"/>
            <a:ext cx="3520440" cy="502920"/>
          </a:xfrm>
          <a:prstGeom prst="rect">
            <a:avLst/>
          </a:prstGeom>
          <a:noFill/>
        </p:spPr>
        <p:txBody>
          <a:bodyPr wrap="square" lIns="0" rIns="0" tIns="0" bIns="0" anchor="t">
            <a:spAutoFit/>
          </a:bodyPr>
          <a:lstStyle/>
          <a:p>
            <a:pPr algn="l">
              <a:lnSpc>
                <a:spcPct val="110000"/>
              </a:lnSpc>
              <a:spcAft>
                <a:spcPts val="0"/>
              </a:spcAft>
            </a:pPr>
            <a:r>
              <a:rPr sz="2800" b="1">
                <a:solidFill>
                  <a:srgbClr val="C7F36B"/>
                </a:solidFill>
                <a:latin typeface="Inter"/>
                <a:ea typeface="Inter"/>
                <a:cs typeface="Inter"/>
              </a:rPr>
              <a:t>1 click</a:t>
            </a:r>
          </a:p>
        </p:txBody>
      </p:sp>
      <p:sp>
        <p:nvSpPr>
          <p:cNvPr id="14" name="TextBox 13"/>
          <p:cNvSpPr txBox="1"/>
          <p:nvPr/>
        </p:nvSpPr>
        <p:spPr>
          <a:xfrm>
            <a:off x="8046720" y="5120640"/>
            <a:ext cx="3520440" cy="914400"/>
          </a:xfrm>
          <a:prstGeom prst="rect">
            <a:avLst/>
          </a:prstGeom>
          <a:noFill/>
        </p:spPr>
        <p:txBody>
          <a:bodyPr wrap="square" lIns="0" rIns="0" tIns="0" bIns="0" anchor="t">
            <a:spAutoFit/>
          </a:bodyPr>
          <a:lstStyle/>
          <a:p>
            <a:pPr algn="l">
              <a:lnSpc>
                <a:spcPct val="110000"/>
              </a:lnSpc>
              <a:spcAft>
                <a:spcPts val="0"/>
              </a:spcAft>
            </a:pPr>
            <a:r>
              <a:rPr sz="1700" b="0">
                <a:solidFill>
                  <a:srgbClr val="B4C1D2"/>
                </a:solidFill>
                <a:latin typeface="Inter"/>
                <a:ea typeface="Inter"/>
                <a:cs typeface="Inter"/>
              </a:rPr>
              <a:t>“Try a sample business” loads fictional data so every feature can be tested</a:t>
            </a:r>
          </a:p>
        </p:txBody>
      </p:sp>
      <p:cxnSp>
        <p:nvCxnSpPr>
          <p:cNvPr id="15" name="Connector 14"/>
          <p:cNvCxnSpPr/>
          <p:nvPr/>
        </p:nvCxnSpPr>
        <p:spPr>
          <a:xfrm>
            <a:off x="640080" y="6382512"/>
            <a:ext cx="10911535" cy="0"/>
          </a:xfrm>
          <a:prstGeom prst="line">
            <a:avLst/>
          </a:prstGeom>
          <a:ln>
            <a:solidFill>
              <a:srgbClr val="2A3F5C"/>
            </a:solidFill>
          </a:ln>
        </p:spPr>
        <p:style>
          <a:lnRef idx="2">
            <a:schemeClr val="accent1"/>
          </a:lnRef>
          <a:fillRef idx="0">
            <a:schemeClr val="accent1"/>
          </a:fillRef>
          <a:effectRef idx="1">
            <a:schemeClr val="accent1"/>
          </a:effectRef>
          <a:fontRef idx="minor">
            <a:schemeClr val="tx1"/>
          </a:fontRef>
        </p:style>
      </p:cxnSp>
      <p:pic>
        <p:nvPicPr>
          <p:cNvPr id="16" name="Picture 15" descr="logo.png"/>
          <p:cNvPicPr>
            <a:picLocks noChangeAspect="1"/>
          </p:cNvPicPr>
          <p:nvPr/>
        </p:nvPicPr>
        <p:blipFill>
          <a:blip r:embed="rId4"/>
          <a:stretch>
            <a:fillRect/>
          </a:stretch>
        </p:blipFill>
        <p:spPr>
          <a:xfrm>
            <a:off x="640080" y="6446520"/>
            <a:ext cx="292608" cy="292608"/>
          </a:xfrm>
          <a:prstGeom prst="rect">
            <a:avLst/>
          </a:prstGeom>
        </p:spPr>
      </p:pic>
      <p:sp>
        <p:nvSpPr>
          <p:cNvPr id="17" name="TextBox 16"/>
          <p:cNvSpPr txBox="1"/>
          <p:nvPr/>
        </p:nvSpPr>
        <p:spPr>
          <a:xfrm>
            <a:off x="1024128" y="6464808"/>
            <a:ext cx="7772400" cy="274320"/>
          </a:xfrm>
          <a:prstGeom prst="rect">
            <a:avLst/>
          </a:prstGeom>
          <a:noFill/>
        </p:spPr>
        <p:txBody>
          <a:bodyPr wrap="square" lIns="0" rIns="0" tIns="0" bIns="0" anchor="ctr">
            <a:spAutoFit/>
          </a:bodyPr>
          <a:lstStyle/>
          <a:p>
            <a:pPr algn="l">
              <a:lnSpc>
                <a:spcPct val="110000"/>
              </a:lnSpc>
              <a:spcAft>
                <a:spcPts val="0"/>
              </a:spcAft>
            </a:pPr>
            <a:r>
              <a:rPr sz="1400" b="1">
                <a:solidFill>
                  <a:srgbClr val="B4C1D2"/>
                </a:solidFill>
                <a:latin typeface="Inter"/>
                <a:ea typeface="Inter"/>
                <a:cs typeface="Inter"/>
              </a:rPr>
              <a:t>Capzoryx Copilot</a:t>
            </a:r>
            <a:r>
              <a:rPr sz="1400" b="0">
                <a:solidFill>
                  <a:srgbClr val="8FA0B5"/>
                </a:solidFill>
                <a:latin typeface="Inter"/>
                <a:ea typeface="Inter"/>
                <a:cs typeface="Inter"/>
              </a:rPr>
              <a:t>  ·  2026 Shenzhen International FinTechathon  ·  Topic E</a:t>
            </a:r>
          </a:p>
        </p:txBody>
      </p:sp>
      <p:sp>
        <p:nvSpPr>
          <p:cNvPr id="18" name="TextBox 17"/>
          <p:cNvSpPr txBox="1"/>
          <p:nvPr/>
        </p:nvSpPr>
        <p:spPr>
          <a:xfrm>
            <a:off x="9722815" y="6464808"/>
            <a:ext cx="1828800" cy="274320"/>
          </a:xfrm>
          <a:prstGeom prst="rect">
            <a:avLst/>
          </a:prstGeom>
          <a:noFill/>
        </p:spPr>
        <p:txBody>
          <a:bodyPr wrap="square" lIns="0" rIns="0" tIns="0" bIns="0" anchor="ctr">
            <a:spAutoFit/>
          </a:bodyPr>
          <a:lstStyle/>
          <a:p>
            <a:pPr algn="r">
              <a:lnSpc>
                <a:spcPct val="110000"/>
              </a:lnSpc>
              <a:spcAft>
                <a:spcPts val="0"/>
              </a:spcAft>
            </a:pPr>
            <a:r>
              <a:rPr sz="1400" b="1">
                <a:solidFill>
                  <a:srgbClr val="B4C1D2"/>
                </a:solidFill>
                <a:latin typeface="Inter"/>
                <a:ea typeface="Inter"/>
                <a:cs typeface="Inter"/>
              </a:rPr>
              <a:t>04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lIns="0" rIns="0" tIns="0" bIns="0" anchor="t">
            <a:spAutoFit/>
          </a:bodyPr>
          <a:lstStyle/>
          <a:p>
            <a:pPr algn="l">
              <a:lnSpc>
                <a:spcPct val="110000"/>
              </a:lnSpc>
              <a:spcAft>
                <a:spcPts val="0"/>
              </a:spcAft>
            </a:pPr>
            <a:r>
              <a:rPr sz="1400" b="1" spc="200">
                <a:solidFill>
                  <a:srgbClr val="3BE3C1"/>
                </a:solidFill>
                <a:latin typeface="Inter"/>
                <a:ea typeface="Inter"/>
                <a:cs typeface="Inter"/>
              </a:rPr>
              <a:t>03 / THE PRODUCT: ADD RECORDS</a:t>
            </a:r>
          </a:p>
        </p:txBody>
      </p:sp>
      <p:sp>
        <p:nvSpPr>
          <p:cNvPr id="3" name="TextBox 2"/>
          <p:cNvSpPr txBox="1"/>
          <p:nvPr/>
        </p:nvSpPr>
        <p:spPr>
          <a:xfrm>
            <a:off x="640080" y="713232"/>
            <a:ext cx="10881360" cy="731520"/>
          </a:xfrm>
          <a:prstGeom prst="rect">
            <a:avLst/>
          </a:prstGeom>
          <a:noFill/>
        </p:spPr>
        <p:txBody>
          <a:bodyPr wrap="square" lIns="0" rIns="0" tIns="0" bIns="0" anchor="t">
            <a:spAutoFit/>
          </a:bodyPr>
          <a:lstStyle/>
          <a:p>
            <a:pPr algn="l">
              <a:lnSpc>
                <a:spcPct val="100000"/>
              </a:lnSpc>
              <a:spcAft>
                <a:spcPts val="0"/>
              </a:spcAft>
            </a:pPr>
            <a:r>
              <a:rPr sz="3600" b="1">
                <a:solidFill>
                  <a:srgbClr val="FFFFFF"/>
                </a:solidFill>
                <a:latin typeface="Inter"/>
                <a:ea typeface="Inter"/>
                <a:cs typeface="Inter"/>
              </a:rPr>
              <a:t>Snap it or type it. You confirm.</a:t>
            </a:r>
          </a:p>
        </p:txBody>
      </p:sp>
      <p:sp>
        <p:nvSpPr>
          <p:cNvPr id="4" name="Rounded Rectangle 3"/>
          <p:cNvSpPr/>
          <p:nvPr/>
        </p:nvSpPr>
        <p:spPr>
          <a:xfrm>
            <a:off x="868680" y="1600200"/>
            <a:ext cx="4754880" cy="566928"/>
          </a:xfrm>
          <a:prstGeom prst="roundRect">
            <a:avLst>
              <a:gd name="adj" fmla="val 48387"/>
            </a:avLst>
          </a:prstGeom>
          <a:solidFill>
            <a:srgbClr val="3BE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600200"/>
            <a:ext cx="4389120" cy="566928"/>
          </a:xfrm>
          <a:prstGeom prst="rect">
            <a:avLst/>
          </a:prstGeom>
          <a:noFill/>
        </p:spPr>
        <p:txBody>
          <a:bodyPr wrap="square" lIns="0" rIns="0" tIns="0" bIns="0" anchor="ctr">
            <a:spAutoFit/>
          </a:bodyPr>
          <a:lstStyle/>
          <a:p>
            <a:pPr algn="l">
              <a:lnSpc>
                <a:spcPct val="110000"/>
              </a:lnSpc>
              <a:spcAft>
                <a:spcPts val="0"/>
              </a:spcAft>
            </a:pPr>
            <a:r>
              <a:rPr sz="1700" b="1">
                <a:solidFill>
                  <a:srgbClr val="0A1220"/>
                </a:solidFill>
                <a:latin typeface="Inter"/>
                <a:ea typeface="Inter"/>
                <a:cs typeface="Inter"/>
              </a:rPr>
              <a:t>“I paid Rahman 5000 for freight yesterday”</a:t>
            </a:r>
          </a:p>
        </p:txBody>
      </p:sp>
      <p:sp>
        <p:nvSpPr>
          <p:cNvPr id="6" name="Chevron 5"/>
          <p:cNvSpPr/>
          <p:nvPr/>
        </p:nvSpPr>
        <p:spPr>
          <a:xfrm rot="5400000">
            <a:off x="3154680" y="2286000"/>
            <a:ext cx="256032" cy="274320"/>
          </a:xfrm>
          <a:prstGeom prst="chevron">
            <a:avLst/>
          </a:prstGeom>
          <a:solidFill>
            <a:srgbClr val="3BE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he draft card: amount, direction, date and note, to confirm before saving"/>
          <p:cNvPicPr>
            <a:picLocks noChangeAspect="1"/>
          </p:cNvPicPr>
          <p:nvPr/>
        </p:nvPicPr>
        <p:blipFill>
          <a:blip r:embed="rId3"/>
          <a:stretch>
            <a:fillRect/>
          </a:stretch>
        </p:blipFill>
        <p:spPr>
          <a:xfrm>
            <a:off x="612647" y="2441448"/>
            <a:ext cx="6181344" cy="3335274"/>
          </a:xfrm>
          <a:prstGeom prst="rect">
            <a:avLst/>
          </a:prstGeom>
        </p:spPr>
      </p:pic>
      <p:sp>
        <p:nvSpPr>
          <p:cNvPr id="8" name="Rounded Rectangle 7"/>
          <p:cNvSpPr/>
          <p:nvPr/>
        </p:nvSpPr>
        <p:spPr>
          <a:xfrm>
            <a:off x="6858000" y="1600200"/>
            <a:ext cx="91440" cy="1005840"/>
          </a:xfrm>
          <a:prstGeom prst="roundRect">
            <a:avLst>
              <a:gd name="adj" fmla="val 50000"/>
            </a:avLst>
          </a:prstGeom>
          <a:solidFill>
            <a:srgbClr val="3BE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0" y="1563624"/>
            <a:ext cx="4389120" cy="411480"/>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Inter"/>
                <a:ea typeface="Inter"/>
                <a:cs typeface="Inter"/>
              </a:rPr>
              <a:t>Photo of a bill or receipt</a:t>
            </a:r>
          </a:p>
        </p:txBody>
      </p:sp>
      <p:sp>
        <p:nvSpPr>
          <p:cNvPr id="10" name="TextBox 9"/>
          <p:cNvSpPr txBox="1"/>
          <p:nvPr/>
        </p:nvSpPr>
        <p:spPr>
          <a:xfrm>
            <a:off x="7132320" y="2011680"/>
            <a:ext cx="4389120" cy="640080"/>
          </a:xfrm>
          <a:prstGeom prst="rect">
            <a:avLst/>
          </a:prstGeom>
          <a:noFill/>
        </p:spPr>
        <p:txBody>
          <a:bodyPr wrap="square" lIns="0" rIns="0" tIns="0" bIns="0" anchor="t">
            <a:spAutoFit/>
          </a:bodyPr>
          <a:lstStyle/>
          <a:p>
            <a:pPr algn="l">
              <a:lnSpc>
                <a:spcPct val="110000"/>
              </a:lnSpc>
              <a:spcAft>
                <a:spcPts val="0"/>
              </a:spcAft>
            </a:pPr>
            <a:r>
              <a:rPr sz="1800" b="0">
                <a:solidFill>
                  <a:srgbClr val="B4C1D2"/>
                </a:solidFill>
                <a:latin typeface="Inter"/>
                <a:ea typeface="Inter"/>
                <a:cs typeface="Inter"/>
              </a:rPr>
              <a:t>Read by the optional cloud model.</a:t>
            </a:r>
          </a:p>
        </p:txBody>
      </p:sp>
      <p:sp>
        <p:nvSpPr>
          <p:cNvPr id="11" name="Rounded Rectangle 10"/>
          <p:cNvSpPr/>
          <p:nvPr/>
        </p:nvSpPr>
        <p:spPr>
          <a:xfrm>
            <a:off x="6858000" y="2788920"/>
            <a:ext cx="91440" cy="1005840"/>
          </a:xfrm>
          <a:prstGeom prst="roundRect">
            <a:avLst>
              <a:gd name="adj" fmla="val 50000"/>
            </a:avLst>
          </a:prstGeom>
          <a:solidFill>
            <a:srgbClr val="6F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0" y="2752344"/>
            <a:ext cx="4389120" cy="411480"/>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Inter"/>
                <a:ea typeface="Inter"/>
                <a:cs typeface="Inter"/>
              </a:rPr>
              <a:t>A typed sentence</a:t>
            </a:r>
          </a:p>
        </p:txBody>
      </p:sp>
      <p:sp>
        <p:nvSpPr>
          <p:cNvPr id="13" name="TextBox 12"/>
          <p:cNvSpPr txBox="1"/>
          <p:nvPr/>
        </p:nvSpPr>
        <p:spPr>
          <a:xfrm>
            <a:off x="7132320" y="3200400"/>
            <a:ext cx="4389120" cy="640080"/>
          </a:xfrm>
          <a:prstGeom prst="rect">
            <a:avLst/>
          </a:prstGeom>
          <a:noFill/>
        </p:spPr>
        <p:txBody>
          <a:bodyPr wrap="square" lIns="0" rIns="0" tIns="0" bIns="0" anchor="t">
            <a:spAutoFit/>
          </a:bodyPr>
          <a:lstStyle/>
          <a:p>
            <a:pPr algn="l">
              <a:lnSpc>
                <a:spcPct val="110000"/>
              </a:lnSpc>
              <a:spcAft>
                <a:spcPts val="0"/>
              </a:spcAft>
            </a:pPr>
            <a:r>
              <a:rPr sz="1800" b="0">
                <a:solidFill>
                  <a:srgbClr val="B4C1D2"/>
                </a:solidFill>
                <a:latin typeface="Inter"/>
                <a:ea typeface="Inter"/>
                <a:cs typeface="Inter"/>
              </a:rPr>
              <a:t>Becomes a draft, even without cloud AI.</a:t>
            </a:r>
          </a:p>
        </p:txBody>
      </p:sp>
      <p:sp>
        <p:nvSpPr>
          <p:cNvPr id="14" name="Rounded Rectangle 13"/>
          <p:cNvSpPr/>
          <p:nvPr/>
        </p:nvSpPr>
        <p:spPr>
          <a:xfrm>
            <a:off x="6858000" y="3977639"/>
            <a:ext cx="91440" cy="1005840"/>
          </a:xfrm>
          <a:prstGeom prst="roundRect">
            <a:avLst>
              <a:gd name="adj" fmla="val 50000"/>
            </a:avLst>
          </a:prstGeom>
          <a:solidFill>
            <a:srgbClr val="C7F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0" y="3941063"/>
            <a:ext cx="4389120" cy="411480"/>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Inter"/>
                <a:ea typeface="Inter"/>
                <a:cs typeface="Inter"/>
              </a:rPr>
              <a:t>A plain form</a:t>
            </a:r>
          </a:p>
        </p:txBody>
      </p:sp>
      <p:sp>
        <p:nvSpPr>
          <p:cNvPr id="16" name="TextBox 15"/>
          <p:cNvSpPr txBox="1"/>
          <p:nvPr/>
        </p:nvSpPr>
        <p:spPr>
          <a:xfrm>
            <a:off x="7132320" y="4389120"/>
            <a:ext cx="4389120" cy="640080"/>
          </a:xfrm>
          <a:prstGeom prst="rect">
            <a:avLst/>
          </a:prstGeom>
          <a:noFill/>
        </p:spPr>
        <p:txBody>
          <a:bodyPr wrap="square" lIns="0" rIns="0" tIns="0" bIns="0" anchor="t">
            <a:spAutoFit/>
          </a:bodyPr>
          <a:lstStyle/>
          <a:p>
            <a:pPr algn="l">
              <a:lnSpc>
                <a:spcPct val="110000"/>
              </a:lnSpc>
              <a:spcAft>
                <a:spcPts val="0"/>
              </a:spcAft>
            </a:pPr>
            <a:r>
              <a:rPr sz="1800" b="0">
                <a:solidFill>
                  <a:srgbClr val="B4C1D2"/>
                </a:solidFill>
                <a:latin typeface="Inter"/>
                <a:ea typeface="Inter"/>
                <a:cs typeface="Inter"/>
              </a:rPr>
              <a:t>Cash activity or an unpaid supplier invoice.</a:t>
            </a:r>
          </a:p>
        </p:txBody>
      </p:sp>
      <p:sp>
        <p:nvSpPr>
          <p:cNvPr id="17" name="Rounded Rectangle 16"/>
          <p:cNvSpPr/>
          <p:nvPr/>
        </p:nvSpPr>
        <p:spPr>
          <a:xfrm>
            <a:off x="6858000" y="5212080"/>
            <a:ext cx="4690872" cy="914400"/>
          </a:xfrm>
          <a:prstGeom prst="roundRect">
            <a:avLst>
              <a:gd name="adj" fmla="val 14000"/>
            </a:avLst>
          </a:prstGeom>
          <a:solidFill>
            <a:srgbClr val="172A44"/>
          </a:solidFill>
          <a:ln w="15875">
            <a:solidFill>
              <a:srgbClr val="3BE3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86600" y="5212080"/>
            <a:ext cx="4297680" cy="914400"/>
          </a:xfrm>
          <a:prstGeom prst="rect">
            <a:avLst/>
          </a:prstGeom>
          <a:noFill/>
        </p:spPr>
        <p:txBody>
          <a:bodyPr wrap="square" lIns="0" rIns="0" tIns="0" bIns="0" anchor="ctr">
            <a:spAutoFit/>
          </a:bodyPr>
          <a:lstStyle/>
          <a:p>
            <a:pPr algn="l">
              <a:lnSpc>
                <a:spcPct val="110000"/>
              </a:lnSpc>
              <a:spcAft>
                <a:spcPts val="0"/>
              </a:spcAft>
            </a:pPr>
            <a:r>
              <a:rPr sz="1800" b="1">
                <a:solidFill>
                  <a:srgbClr val="FFFFFF"/>
                </a:solidFill>
                <a:latin typeface="Inter"/>
                <a:ea typeface="Inter"/>
                <a:cs typeface="Inter"/>
              </a:rPr>
              <a:t>You always check the draft. Recording something never sends money.</a:t>
            </a:r>
          </a:p>
        </p:txBody>
      </p:sp>
      <p:cxnSp>
        <p:nvCxnSpPr>
          <p:cNvPr id="19" name="Connector 18"/>
          <p:cNvCxnSpPr/>
          <p:nvPr/>
        </p:nvCxnSpPr>
        <p:spPr>
          <a:xfrm>
            <a:off x="640080" y="6382512"/>
            <a:ext cx="10911535" cy="0"/>
          </a:xfrm>
          <a:prstGeom prst="line">
            <a:avLst/>
          </a:prstGeom>
          <a:ln>
            <a:solidFill>
              <a:srgbClr val="2A3F5C"/>
            </a:solidFill>
          </a:ln>
        </p:spPr>
        <p:style>
          <a:lnRef idx="2">
            <a:schemeClr val="accent1"/>
          </a:lnRef>
          <a:fillRef idx="0">
            <a:schemeClr val="accent1"/>
          </a:fillRef>
          <a:effectRef idx="1">
            <a:schemeClr val="accent1"/>
          </a:effectRef>
          <a:fontRef idx="minor">
            <a:schemeClr val="tx1"/>
          </a:fontRef>
        </p:style>
      </p:cxnSp>
      <p:pic>
        <p:nvPicPr>
          <p:cNvPr id="20" name="Picture 19" descr="logo.png"/>
          <p:cNvPicPr>
            <a:picLocks noChangeAspect="1"/>
          </p:cNvPicPr>
          <p:nvPr/>
        </p:nvPicPr>
        <p:blipFill>
          <a:blip r:embed="rId4"/>
          <a:stretch>
            <a:fillRect/>
          </a:stretch>
        </p:blipFill>
        <p:spPr>
          <a:xfrm>
            <a:off x="640080" y="6446520"/>
            <a:ext cx="292608" cy="292608"/>
          </a:xfrm>
          <a:prstGeom prst="rect">
            <a:avLst/>
          </a:prstGeom>
        </p:spPr>
      </p:pic>
      <p:sp>
        <p:nvSpPr>
          <p:cNvPr id="21" name="TextBox 20"/>
          <p:cNvSpPr txBox="1"/>
          <p:nvPr/>
        </p:nvSpPr>
        <p:spPr>
          <a:xfrm>
            <a:off x="1024128" y="6464808"/>
            <a:ext cx="7772400" cy="274320"/>
          </a:xfrm>
          <a:prstGeom prst="rect">
            <a:avLst/>
          </a:prstGeom>
          <a:noFill/>
        </p:spPr>
        <p:txBody>
          <a:bodyPr wrap="square" lIns="0" rIns="0" tIns="0" bIns="0" anchor="ctr">
            <a:spAutoFit/>
          </a:bodyPr>
          <a:lstStyle/>
          <a:p>
            <a:pPr algn="l">
              <a:lnSpc>
                <a:spcPct val="110000"/>
              </a:lnSpc>
              <a:spcAft>
                <a:spcPts val="0"/>
              </a:spcAft>
            </a:pPr>
            <a:r>
              <a:rPr sz="1400" b="1">
                <a:solidFill>
                  <a:srgbClr val="B4C1D2"/>
                </a:solidFill>
                <a:latin typeface="Inter"/>
                <a:ea typeface="Inter"/>
                <a:cs typeface="Inter"/>
              </a:rPr>
              <a:t>Capzoryx Copilot</a:t>
            </a:r>
            <a:r>
              <a:rPr sz="1400" b="0">
                <a:solidFill>
                  <a:srgbClr val="8FA0B5"/>
                </a:solidFill>
                <a:latin typeface="Inter"/>
                <a:ea typeface="Inter"/>
                <a:cs typeface="Inter"/>
              </a:rPr>
              <a:t>  ·  2026 Shenzhen International FinTechathon  ·  Topic E</a:t>
            </a:r>
          </a:p>
        </p:txBody>
      </p:sp>
      <p:sp>
        <p:nvSpPr>
          <p:cNvPr id="22" name="TextBox 21"/>
          <p:cNvSpPr txBox="1"/>
          <p:nvPr/>
        </p:nvSpPr>
        <p:spPr>
          <a:xfrm>
            <a:off x="9722815" y="6464808"/>
            <a:ext cx="1828800" cy="274320"/>
          </a:xfrm>
          <a:prstGeom prst="rect">
            <a:avLst/>
          </a:prstGeom>
          <a:noFill/>
        </p:spPr>
        <p:txBody>
          <a:bodyPr wrap="square" lIns="0" rIns="0" tIns="0" bIns="0" anchor="ctr">
            <a:spAutoFit/>
          </a:bodyPr>
          <a:lstStyle/>
          <a:p>
            <a:pPr algn="r">
              <a:lnSpc>
                <a:spcPct val="110000"/>
              </a:lnSpc>
              <a:spcAft>
                <a:spcPts val="0"/>
              </a:spcAft>
            </a:pPr>
            <a:r>
              <a:rPr sz="1400" b="1">
                <a:solidFill>
                  <a:srgbClr val="B4C1D2"/>
                </a:solidFill>
                <a:latin typeface="Inter"/>
                <a:ea typeface="Inter"/>
                <a:cs typeface="Inter"/>
              </a:rPr>
              <a:t>05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lIns="0" rIns="0" tIns="0" bIns="0" anchor="t">
            <a:spAutoFit/>
          </a:bodyPr>
          <a:lstStyle/>
          <a:p>
            <a:pPr algn="l">
              <a:lnSpc>
                <a:spcPct val="110000"/>
              </a:lnSpc>
              <a:spcAft>
                <a:spcPts val="0"/>
              </a:spcAft>
            </a:pPr>
            <a:r>
              <a:rPr sz="1400" b="1" spc="200">
                <a:solidFill>
                  <a:srgbClr val="3BE3C1"/>
                </a:solidFill>
                <a:latin typeface="Inter"/>
                <a:ea typeface="Inter"/>
                <a:cs typeface="Inter"/>
              </a:rPr>
              <a:t>04 / DEMO SCENARIO</a:t>
            </a:r>
          </a:p>
        </p:txBody>
      </p:sp>
      <p:sp>
        <p:nvSpPr>
          <p:cNvPr id="3" name="TextBox 2"/>
          <p:cNvSpPr txBox="1"/>
          <p:nvPr/>
        </p:nvSpPr>
        <p:spPr>
          <a:xfrm>
            <a:off x="640080" y="713232"/>
            <a:ext cx="10881360" cy="731520"/>
          </a:xfrm>
          <a:prstGeom prst="rect">
            <a:avLst/>
          </a:prstGeom>
          <a:noFill/>
        </p:spPr>
        <p:txBody>
          <a:bodyPr wrap="square" lIns="0" rIns="0" tIns="0" bIns="0" anchor="t">
            <a:spAutoFit/>
          </a:bodyPr>
          <a:lstStyle/>
          <a:p>
            <a:pPr algn="l">
              <a:lnSpc>
                <a:spcPct val="100000"/>
              </a:lnSpc>
              <a:spcAft>
                <a:spcPts val="0"/>
              </a:spcAft>
            </a:pPr>
            <a:r>
              <a:rPr sz="3600" b="1">
                <a:solidFill>
                  <a:srgbClr val="FFFFFF"/>
                </a:solidFill>
                <a:latin typeface="Inter"/>
                <a:ea typeface="Inter"/>
                <a:cs typeface="Inter"/>
              </a:rPr>
              <a:t>The cash gap shows up six days early.</a:t>
            </a:r>
          </a:p>
        </p:txBody>
      </p:sp>
      <p:pic>
        <p:nvPicPr>
          <p:cNvPr id="4" name="Picture 3" descr="The Cash flow screen: lowest balance, first reserve breach, projection chart"/>
          <p:cNvPicPr>
            <a:picLocks noChangeAspect="1"/>
          </p:cNvPicPr>
          <p:nvPr/>
        </p:nvPicPr>
        <p:blipFill>
          <a:blip r:embed="rId3"/>
          <a:stretch>
            <a:fillRect/>
          </a:stretch>
        </p:blipFill>
        <p:spPr>
          <a:xfrm>
            <a:off x="612647" y="1298448"/>
            <a:ext cx="6821424" cy="4543044"/>
          </a:xfrm>
          <a:prstGeom prst="rect">
            <a:avLst/>
          </a:prstGeom>
        </p:spPr>
      </p:pic>
      <p:sp>
        <p:nvSpPr>
          <p:cNvPr id="5" name="TextBox 4"/>
          <p:cNvSpPr txBox="1"/>
          <p:nvPr/>
        </p:nvSpPr>
        <p:spPr>
          <a:xfrm>
            <a:off x="868680" y="5768340"/>
            <a:ext cx="6309360" cy="274320"/>
          </a:xfrm>
          <a:prstGeom prst="rect">
            <a:avLst/>
          </a:prstGeom>
          <a:noFill/>
        </p:spPr>
        <p:txBody>
          <a:bodyPr wrap="square" lIns="0" rIns="0" tIns="0" bIns="0" anchor="t">
            <a:spAutoFit/>
          </a:bodyPr>
          <a:lstStyle/>
          <a:p>
            <a:pPr algn="l">
              <a:lnSpc>
                <a:spcPct val="110000"/>
              </a:lnSpc>
              <a:spcAft>
                <a:spcPts val="0"/>
              </a:spcAft>
            </a:pPr>
            <a:r>
              <a:rPr sz="1400" b="0">
                <a:solidFill>
                  <a:srgbClr val="8FA0B5"/>
                </a:solidFill>
                <a:latin typeface="Inter"/>
                <a:ea typeface="Inter"/>
                <a:cs typeface="Inter"/>
              </a:rPr>
              <a:t>Fictional sample business, BDT, safety reserve 0.</a:t>
            </a:r>
          </a:p>
        </p:txBody>
      </p:sp>
      <p:sp>
        <p:nvSpPr>
          <p:cNvPr id="6" name="Rounded Rectangle 5"/>
          <p:cNvSpPr/>
          <p:nvPr/>
        </p:nvSpPr>
        <p:spPr>
          <a:xfrm>
            <a:off x="8138160" y="1600200"/>
            <a:ext cx="3410712" cy="1143000"/>
          </a:xfrm>
          <a:prstGeom prst="roundRect">
            <a:avLst>
              <a:gd name="adj" fmla="val 11200"/>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66760" y="1709928"/>
            <a:ext cx="3017520" cy="502920"/>
          </a:xfrm>
          <a:prstGeom prst="rect">
            <a:avLst/>
          </a:prstGeom>
          <a:noFill/>
        </p:spPr>
        <p:txBody>
          <a:bodyPr wrap="square" lIns="0" rIns="0" tIns="0" bIns="0" anchor="t">
            <a:spAutoFit/>
          </a:bodyPr>
          <a:lstStyle/>
          <a:p>
            <a:pPr algn="l">
              <a:lnSpc>
                <a:spcPct val="110000"/>
              </a:lnSpc>
              <a:spcAft>
                <a:spcPts val="0"/>
              </a:spcAft>
            </a:pPr>
            <a:r>
              <a:rPr sz="2800" b="1">
                <a:solidFill>
                  <a:srgbClr val="3BE3C1"/>
                </a:solidFill>
                <a:latin typeface="Inter"/>
                <a:ea typeface="Inter"/>
                <a:cs typeface="Inter"/>
              </a:rPr>
              <a:t>BDT 150,000</a:t>
            </a:r>
          </a:p>
        </p:txBody>
      </p:sp>
      <p:sp>
        <p:nvSpPr>
          <p:cNvPr id="8" name="TextBox 7"/>
          <p:cNvSpPr txBox="1"/>
          <p:nvPr/>
        </p:nvSpPr>
        <p:spPr>
          <a:xfrm>
            <a:off x="8366760" y="2258568"/>
            <a:ext cx="3108960" cy="457200"/>
          </a:xfrm>
          <a:prstGeom prst="rect">
            <a:avLst/>
          </a:prstGeom>
          <a:noFill/>
        </p:spPr>
        <p:txBody>
          <a:bodyPr wrap="square" lIns="0" rIns="0" tIns="0" bIns="0" anchor="t">
            <a:spAutoFit/>
          </a:bodyPr>
          <a:lstStyle/>
          <a:p>
            <a:pPr algn="l">
              <a:lnSpc>
                <a:spcPct val="100000"/>
              </a:lnSpc>
              <a:spcAft>
                <a:spcPts val="0"/>
              </a:spcAft>
            </a:pPr>
            <a:r>
              <a:rPr sz="1500" b="0">
                <a:solidFill>
                  <a:srgbClr val="B4C1D2"/>
                </a:solidFill>
                <a:latin typeface="Inter"/>
                <a:ea typeface="Inter"/>
                <a:cs typeface="Inter"/>
              </a:rPr>
              <a:t>cleared cash today</a:t>
            </a:r>
          </a:p>
        </p:txBody>
      </p:sp>
      <p:sp>
        <p:nvSpPr>
          <p:cNvPr id="9" name="Rounded Rectangle 8"/>
          <p:cNvSpPr/>
          <p:nvPr/>
        </p:nvSpPr>
        <p:spPr>
          <a:xfrm>
            <a:off x="8138160" y="2926080"/>
            <a:ext cx="3410712" cy="1143000"/>
          </a:xfrm>
          <a:prstGeom prst="roundRect">
            <a:avLst>
              <a:gd name="adj" fmla="val 11200"/>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66760" y="3035808"/>
            <a:ext cx="3017520" cy="502920"/>
          </a:xfrm>
          <a:prstGeom prst="rect">
            <a:avLst/>
          </a:prstGeom>
          <a:noFill/>
        </p:spPr>
        <p:txBody>
          <a:bodyPr wrap="square" lIns="0" rIns="0" tIns="0" bIns="0" anchor="t">
            <a:spAutoFit/>
          </a:bodyPr>
          <a:lstStyle/>
          <a:p>
            <a:pPr algn="l">
              <a:lnSpc>
                <a:spcPct val="110000"/>
              </a:lnSpc>
              <a:spcAft>
                <a:spcPts val="0"/>
              </a:spcAft>
            </a:pPr>
            <a:r>
              <a:rPr sz="2800" b="1">
                <a:solidFill>
                  <a:srgbClr val="F5B642"/>
                </a:solidFill>
                <a:latin typeface="Inter"/>
                <a:ea typeface="Inter"/>
                <a:cs typeface="Inter"/>
              </a:rPr>
              <a:t>BDT 420,000</a:t>
            </a:r>
          </a:p>
        </p:txBody>
      </p:sp>
      <p:sp>
        <p:nvSpPr>
          <p:cNvPr id="11" name="TextBox 10"/>
          <p:cNvSpPr txBox="1"/>
          <p:nvPr/>
        </p:nvSpPr>
        <p:spPr>
          <a:xfrm>
            <a:off x="8366760" y="3584448"/>
            <a:ext cx="3108960" cy="457200"/>
          </a:xfrm>
          <a:prstGeom prst="rect">
            <a:avLst/>
          </a:prstGeom>
          <a:noFill/>
        </p:spPr>
        <p:txBody>
          <a:bodyPr wrap="square" lIns="0" rIns="0" tIns="0" bIns="0" anchor="t">
            <a:spAutoFit/>
          </a:bodyPr>
          <a:lstStyle/>
          <a:p>
            <a:pPr algn="l">
              <a:lnSpc>
                <a:spcPct val="100000"/>
              </a:lnSpc>
              <a:spcAft>
                <a:spcPts val="0"/>
              </a:spcAft>
            </a:pPr>
            <a:r>
              <a:rPr sz="1500" b="0">
                <a:solidFill>
                  <a:srgbClr val="B4C1D2"/>
                </a:solidFill>
                <a:latin typeface="Inter"/>
                <a:ea typeface="Inter"/>
                <a:cs typeface="Inter"/>
              </a:rPr>
              <a:t>material bill, due in 6 days</a:t>
            </a:r>
          </a:p>
        </p:txBody>
      </p:sp>
      <p:sp>
        <p:nvSpPr>
          <p:cNvPr id="12" name="Rounded Rectangle 11"/>
          <p:cNvSpPr/>
          <p:nvPr/>
        </p:nvSpPr>
        <p:spPr>
          <a:xfrm>
            <a:off x="8138160" y="4251960"/>
            <a:ext cx="3410712" cy="1143000"/>
          </a:xfrm>
          <a:prstGeom prst="roundRect">
            <a:avLst>
              <a:gd name="adj" fmla="val 11200"/>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4361688"/>
            <a:ext cx="3017520" cy="502920"/>
          </a:xfrm>
          <a:prstGeom prst="rect">
            <a:avLst/>
          </a:prstGeom>
          <a:noFill/>
        </p:spPr>
        <p:txBody>
          <a:bodyPr wrap="square" lIns="0" rIns="0" tIns="0" bIns="0" anchor="t">
            <a:spAutoFit/>
          </a:bodyPr>
          <a:lstStyle/>
          <a:p>
            <a:pPr algn="l">
              <a:lnSpc>
                <a:spcPct val="110000"/>
              </a:lnSpc>
              <a:spcAft>
                <a:spcPts val="0"/>
              </a:spcAft>
            </a:pPr>
            <a:r>
              <a:rPr sz="2800" b="1">
                <a:solidFill>
                  <a:srgbClr val="FF7A8A"/>
                </a:solidFill>
                <a:latin typeface="Inter"/>
                <a:ea typeface="Inter"/>
                <a:cs typeface="Inter"/>
              </a:rPr>
              <a:t>−BDT 360,000</a:t>
            </a:r>
          </a:p>
        </p:txBody>
      </p:sp>
      <p:sp>
        <p:nvSpPr>
          <p:cNvPr id="14" name="TextBox 13"/>
          <p:cNvSpPr txBox="1"/>
          <p:nvPr/>
        </p:nvSpPr>
        <p:spPr>
          <a:xfrm>
            <a:off x="8366760" y="4910328"/>
            <a:ext cx="3108960" cy="457200"/>
          </a:xfrm>
          <a:prstGeom prst="rect">
            <a:avLst/>
          </a:prstGeom>
          <a:noFill/>
        </p:spPr>
        <p:txBody>
          <a:bodyPr wrap="square" lIns="0" rIns="0" tIns="0" bIns="0" anchor="t">
            <a:spAutoFit/>
          </a:bodyPr>
          <a:lstStyle/>
          <a:p>
            <a:pPr algn="l">
              <a:lnSpc>
                <a:spcPct val="100000"/>
              </a:lnSpc>
              <a:spcAft>
                <a:spcPts val="0"/>
              </a:spcAft>
            </a:pPr>
            <a:r>
              <a:rPr sz="1500" b="0">
                <a:solidFill>
                  <a:srgbClr val="B4C1D2"/>
                </a:solidFill>
                <a:latin typeface="Inter"/>
                <a:ea typeface="Inter"/>
                <a:cs typeface="Inter"/>
              </a:rPr>
              <a:t>lowest balance in 30 days</a:t>
            </a:r>
          </a:p>
        </p:txBody>
      </p:sp>
      <p:sp>
        <p:nvSpPr>
          <p:cNvPr id="15" name="TextBox 14"/>
          <p:cNvSpPr txBox="1"/>
          <p:nvPr/>
        </p:nvSpPr>
        <p:spPr>
          <a:xfrm>
            <a:off x="8138160" y="5577840"/>
            <a:ext cx="3410712" cy="548640"/>
          </a:xfrm>
          <a:prstGeom prst="rect">
            <a:avLst/>
          </a:prstGeom>
          <a:noFill/>
        </p:spPr>
        <p:txBody>
          <a:bodyPr wrap="square" lIns="0" rIns="0" tIns="0" bIns="0" anchor="t">
            <a:spAutoFit/>
          </a:bodyPr>
          <a:lstStyle/>
          <a:p>
            <a:pPr algn="l">
              <a:lnSpc>
                <a:spcPct val="110000"/>
              </a:lnSpc>
              <a:spcAft>
                <a:spcPts val="0"/>
              </a:spcAft>
            </a:pPr>
            <a:r>
              <a:rPr sz="1600" b="0">
                <a:solidFill>
                  <a:srgbClr val="B4C1D2"/>
                </a:solidFill>
                <a:latin typeface="Inter"/>
                <a:ea typeface="Inter"/>
                <a:cs typeface="Inter"/>
              </a:rPr>
              <a:t>Customers pay BDT 600,000 on day 25.</a:t>
            </a:r>
          </a:p>
        </p:txBody>
      </p:sp>
      <p:cxnSp>
        <p:nvCxnSpPr>
          <p:cNvPr id="16" name="Connector 15"/>
          <p:cNvCxnSpPr/>
          <p:nvPr/>
        </p:nvCxnSpPr>
        <p:spPr>
          <a:xfrm>
            <a:off x="640080" y="6382512"/>
            <a:ext cx="10911535" cy="0"/>
          </a:xfrm>
          <a:prstGeom prst="line">
            <a:avLst/>
          </a:prstGeom>
          <a:ln>
            <a:solidFill>
              <a:srgbClr val="2A3F5C"/>
            </a:solidFill>
          </a:ln>
        </p:spPr>
        <p:style>
          <a:lnRef idx="2">
            <a:schemeClr val="accent1"/>
          </a:lnRef>
          <a:fillRef idx="0">
            <a:schemeClr val="accent1"/>
          </a:fillRef>
          <a:effectRef idx="1">
            <a:schemeClr val="accent1"/>
          </a:effectRef>
          <a:fontRef idx="minor">
            <a:schemeClr val="tx1"/>
          </a:fontRef>
        </p:style>
      </p:cxnSp>
      <p:pic>
        <p:nvPicPr>
          <p:cNvPr id="17" name="Picture 16" descr="logo.png"/>
          <p:cNvPicPr>
            <a:picLocks noChangeAspect="1"/>
          </p:cNvPicPr>
          <p:nvPr/>
        </p:nvPicPr>
        <p:blipFill>
          <a:blip r:embed="rId4"/>
          <a:stretch>
            <a:fillRect/>
          </a:stretch>
        </p:blipFill>
        <p:spPr>
          <a:xfrm>
            <a:off x="640080" y="6446520"/>
            <a:ext cx="292608" cy="292608"/>
          </a:xfrm>
          <a:prstGeom prst="rect">
            <a:avLst/>
          </a:prstGeom>
        </p:spPr>
      </p:pic>
      <p:sp>
        <p:nvSpPr>
          <p:cNvPr id="18" name="TextBox 17"/>
          <p:cNvSpPr txBox="1"/>
          <p:nvPr/>
        </p:nvSpPr>
        <p:spPr>
          <a:xfrm>
            <a:off x="1024128" y="6464808"/>
            <a:ext cx="7772400" cy="274320"/>
          </a:xfrm>
          <a:prstGeom prst="rect">
            <a:avLst/>
          </a:prstGeom>
          <a:noFill/>
        </p:spPr>
        <p:txBody>
          <a:bodyPr wrap="square" lIns="0" rIns="0" tIns="0" bIns="0" anchor="ctr">
            <a:spAutoFit/>
          </a:bodyPr>
          <a:lstStyle/>
          <a:p>
            <a:pPr algn="l">
              <a:lnSpc>
                <a:spcPct val="110000"/>
              </a:lnSpc>
              <a:spcAft>
                <a:spcPts val="0"/>
              </a:spcAft>
            </a:pPr>
            <a:r>
              <a:rPr sz="1400" b="1">
                <a:solidFill>
                  <a:srgbClr val="B4C1D2"/>
                </a:solidFill>
                <a:latin typeface="Inter"/>
                <a:ea typeface="Inter"/>
                <a:cs typeface="Inter"/>
              </a:rPr>
              <a:t>Capzoryx Copilot</a:t>
            </a:r>
            <a:r>
              <a:rPr sz="1400" b="0">
                <a:solidFill>
                  <a:srgbClr val="8FA0B5"/>
                </a:solidFill>
                <a:latin typeface="Inter"/>
                <a:ea typeface="Inter"/>
                <a:cs typeface="Inter"/>
              </a:rPr>
              <a:t>  ·  2026 Shenzhen International FinTechathon  ·  Topic E</a:t>
            </a:r>
          </a:p>
        </p:txBody>
      </p:sp>
      <p:sp>
        <p:nvSpPr>
          <p:cNvPr id="19" name="TextBox 18"/>
          <p:cNvSpPr txBox="1"/>
          <p:nvPr/>
        </p:nvSpPr>
        <p:spPr>
          <a:xfrm>
            <a:off x="9722815" y="6464808"/>
            <a:ext cx="1828800" cy="274320"/>
          </a:xfrm>
          <a:prstGeom prst="rect">
            <a:avLst/>
          </a:prstGeom>
          <a:noFill/>
        </p:spPr>
        <p:txBody>
          <a:bodyPr wrap="square" lIns="0" rIns="0" tIns="0" bIns="0" anchor="ctr">
            <a:spAutoFit/>
          </a:bodyPr>
          <a:lstStyle/>
          <a:p>
            <a:pPr algn="r">
              <a:lnSpc>
                <a:spcPct val="110000"/>
              </a:lnSpc>
              <a:spcAft>
                <a:spcPts val="0"/>
              </a:spcAft>
            </a:pPr>
            <a:r>
              <a:rPr sz="1400" b="1">
                <a:solidFill>
                  <a:srgbClr val="B4C1D2"/>
                </a:solidFill>
                <a:latin typeface="Inter"/>
                <a:ea typeface="Inter"/>
                <a:cs typeface="Inter"/>
              </a:rPr>
              <a:t>06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lIns="0" rIns="0" tIns="0" bIns="0" anchor="t">
            <a:spAutoFit/>
          </a:bodyPr>
          <a:lstStyle/>
          <a:p>
            <a:pPr algn="l">
              <a:lnSpc>
                <a:spcPct val="110000"/>
              </a:lnSpc>
              <a:spcAft>
                <a:spcPts val="0"/>
              </a:spcAft>
            </a:pPr>
            <a:r>
              <a:rPr sz="1400" b="1" spc="200">
                <a:solidFill>
                  <a:srgbClr val="3BE3C1"/>
                </a:solidFill>
                <a:latin typeface="Inter"/>
                <a:ea typeface="Inter"/>
                <a:cs typeface="Inter"/>
              </a:rPr>
              <a:t>05 / FINANCING INTELLIGENCE</a:t>
            </a:r>
          </a:p>
        </p:txBody>
      </p:sp>
      <p:sp>
        <p:nvSpPr>
          <p:cNvPr id="3" name="TextBox 2"/>
          <p:cNvSpPr txBox="1"/>
          <p:nvPr/>
        </p:nvSpPr>
        <p:spPr>
          <a:xfrm>
            <a:off x="640080" y="713232"/>
            <a:ext cx="10881360" cy="731520"/>
          </a:xfrm>
          <a:prstGeom prst="rect">
            <a:avLst/>
          </a:prstGeom>
          <a:noFill/>
        </p:spPr>
        <p:txBody>
          <a:bodyPr wrap="square" lIns="0" rIns="0" tIns="0" bIns="0" anchor="t">
            <a:spAutoFit/>
          </a:bodyPr>
          <a:lstStyle/>
          <a:p>
            <a:pPr algn="l">
              <a:lnSpc>
                <a:spcPct val="100000"/>
              </a:lnSpc>
              <a:spcAft>
                <a:spcPts val="0"/>
              </a:spcAft>
            </a:pPr>
            <a:r>
              <a:rPr sz="3600" b="1">
                <a:solidFill>
                  <a:srgbClr val="FFFFFF"/>
                </a:solidFill>
                <a:latin typeface="Inter"/>
                <a:ea typeface="Inter"/>
                <a:cs typeface="Inter"/>
              </a:rPr>
              <a:t>The cheapest-looking rate can cost more.</a:t>
            </a:r>
          </a:p>
        </p:txBody>
      </p:sp>
      <p:pic>
        <p:nvPicPr>
          <p:cNvPr id="4" name="Picture 3" descr="Loan comparison result: ranked quotes with effective annual rates and cash-flow fit"/>
          <p:cNvPicPr>
            <a:picLocks noChangeAspect="1"/>
          </p:cNvPicPr>
          <p:nvPr/>
        </p:nvPicPr>
        <p:blipFill>
          <a:blip r:embed="rId3"/>
          <a:stretch>
            <a:fillRect/>
          </a:stretch>
        </p:blipFill>
        <p:spPr>
          <a:xfrm>
            <a:off x="612647" y="1298448"/>
            <a:ext cx="6821424" cy="4413504"/>
          </a:xfrm>
          <a:prstGeom prst="rect">
            <a:avLst/>
          </a:prstGeom>
        </p:spPr>
      </p:pic>
      <p:sp>
        <p:nvSpPr>
          <p:cNvPr id="5" name="TextBox 4"/>
          <p:cNvSpPr txBox="1"/>
          <p:nvPr/>
        </p:nvSpPr>
        <p:spPr>
          <a:xfrm>
            <a:off x="868680" y="5638800"/>
            <a:ext cx="6309360" cy="274320"/>
          </a:xfrm>
          <a:prstGeom prst="rect">
            <a:avLst/>
          </a:prstGeom>
          <a:noFill/>
        </p:spPr>
        <p:txBody>
          <a:bodyPr wrap="square" lIns="0" rIns="0" tIns="0" bIns="0" anchor="t">
            <a:spAutoFit/>
          </a:bodyPr>
          <a:lstStyle/>
          <a:p>
            <a:pPr algn="l">
              <a:lnSpc>
                <a:spcPct val="110000"/>
              </a:lnSpc>
              <a:spcAft>
                <a:spcPts val="0"/>
              </a:spcAft>
            </a:pPr>
            <a:r>
              <a:rPr sz="1400" b="0">
                <a:solidFill>
                  <a:srgbClr val="8FA0B5"/>
                </a:solidFill>
                <a:latin typeface="Inter"/>
                <a:ea typeface="Inter"/>
                <a:cs typeface="Inter"/>
              </a:rPr>
              <a:t>Three fictional quotes, entered by hand. Not lender offers.</a:t>
            </a:r>
          </a:p>
        </p:txBody>
      </p:sp>
      <p:sp>
        <p:nvSpPr>
          <p:cNvPr id="6" name="Rounded Rectangle 5"/>
          <p:cNvSpPr/>
          <p:nvPr/>
        </p:nvSpPr>
        <p:spPr>
          <a:xfrm>
            <a:off x="7680960" y="1600200"/>
            <a:ext cx="3867912" cy="1234440"/>
          </a:xfrm>
          <a:prstGeom prst="roundRect">
            <a:avLst>
              <a:gd name="adj" fmla="val 10370"/>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09560" y="1691640"/>
            <a:ext cx="1737360" cy="640080"/>
          </a:xfrm>
          <a:prstGeom prst="rect">
            <a:avLst/>
          </a:prstGeom>
          <a:noFill/>
        </p:spPr>
        <p:txBody>
          <a:bodyPr wrap="square" lIns="0" rIns="0" tIns="0" bIns="0" anchor="t">
            <a:spAutoFit/>
          </a:bodyPr>
          <a:lstStyle/>
          <a:p>
            <a:pPr algn="l">
              <a:lnSpc>
                <a:spcPct val="110000"/>
              </a:lnSpc>
              <a:spcAft>
                <a:spcPts val="0"/>
              </a:spcAft>
            </a:pPr>
            <a:r>
              <a:rPr sz="3000" b="1">
                <a:solidFill>
                  <a:srgbClr val="3BE3C1"/>
                </a:solidFill>
                <a:latin typeface="Inter"/>
                <a:ea typeface="Inter"/>
                <a:cs typeface="Inter"/>
              </a:rPr>
              <a:t>16.59%</a:t>
            </a:r>
          </a:p>
        </p:txBody>
      </p:sp>
      <p:sp>
        <p:nvSpPr>
          <p:cNvPr id="8" name="TextBox 7"/>
          <p:cNvSpPr txBox="1"/>
          <p:nvPr/>
        </p:nvSpPr>
        <p:spPr>
          <a:xfrm>
            <a:off x="7909560" y="2221992"/>
            <a:ext cx="3474720" cy="594360"/>
          </a:xfrm>
          <a:prstGeom prst="rect">
            <a:avLst/>
          </a:prstGeom>
          <a:noFill/>
        </p:spPr>
        <p:txBody>
          <a:bodyPr wrap="square" lIns="0" rIns="0" tIns="0" bIns="0" anchor="t">
            <a:spAutoFit/>
          </a:bodyPr>
          <a:lstStyle/>
          <a:p>
            <a:pPr algn="l">
              <a:lnSpc>
                <a:spcPct val="110000"/>
              </a:lnSpc>
              <a:spcAft>
                <a:spcPts val="0"/>
              </a:spcAft>
            </a:pPr>
            <a:r>
              <a:rPr sz="1600" b="0">
                <a:solidFill>
                  <a:srgbClr val="B4C1D2"/>
                </a:solidFill>
                <a:latin typeface="Inter"/>
                <a:ea typeface="Inter"/>
                <a:cs typeface="Inter"/>
              </a:rPr>
              <a:t>Bank term loan, 13.5% reducing. Best match.</a:t>
            </a:r>
          </a:p>
        </p:txBody>
      </p:sp>
      <p:sp>
        <p:nvSpPr>
          <p:cNvPr id="9" name="Rounded Rectangle 8"/>
          <p:cNvSpPr/>
          <p:nvPr/>
        </p:nvSpPr>
        <p:spPr>
          <a:xfrm>
            <a:off x="7680960" y="2971800"/>
            <a:ext cx="3867912" cy="1234440"/>
          </a:xfrm>
          <a:prstGeom prst="roundRect">
            <a:avLst>
              <a:gd name="adj" fmla="val 10370"/>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3063240"/>
            <a:ext cx="1737360" cy="640080"/>
          </a:xfrm>
          <a:prstGeom prst="rect">
            <a:avLst/>
          </a:prstGeom>
          <a:noFill/>
        </p:spPr>
        <p:txBody>
          <a:bodyPr wrap="square" lIns="0" rIns="0" tIns="0" bIns="0" anchor="t">
            <a:spAutoFit/>
          </a:bodyPr>
          <a:lstStyle/>
          <a:p>
            <a:pPr algn="l">
              <a:lnSpc>
                <a:spcPct val="110000"/>
              </a:lnSpc>
              <a:spcAft>
                <a:spcPts val="0"/>
              </a:spcAft>
            </a:pPr>
            <a:r>
              <a:rPr sz="3000" b="1">
                <a:solidFill>
                  <a:srgbClr val="F5B642"/>
                </a:solidFill>
                <a:latin typeface="Inter"/>
                <a:ea typeface="Inter"/>
                <a:cs typeface="Inter"/>
              </a:rPr>
              <a:t>17.74%</a:t>
            </a:r>
          </a:p>
        </p:txBody>
      </p:sp>
      <p:sp>
        <p:nvSpPr>
          <p:cNvPr id="11" name="TextBox 10"/>
          <p:cNvSpPr txBox="1"/>
          <p:nvPr/>
        </p:nvSpPr>
        <p:spPr>
          <a:xfrm>
            <a:off x="7909560" y="3593592"/>
            <a:ext cx="3474720" cy="594360"/>
          </a:xfrm>
          <a:prstGeom prst="rect">
            <a:avLst/>
          </a:prstGeom>
          <a:noFill/>
        </p:spPr>
        <p:txBody>
          <a:bodyPr wrap="square" lIns="0" rIns="0" tIns="0" bIns="0" anchor="t">
            <a:spAutoFit/>
          </a:bodyPr>
          <a:lstStyle/>
          <a:p>
            <a:pPr algn="l">
              <a:lnSpc>
                <a:spcPct val="110000"/>
              </a:lnSpc>
              <a:spcAft>
                <a:spcPts val="0"/>
              </a:spcAft>
            </a:pPr>
            <a:r>
              <a:rPr sz="1600" b="0">
                <a:solidFill>
                  <a:srgbClr val="B4C1D2"/>
                </a:solidFill>
                <a:latin typeface="Inter"/>
                <a:ea typeface="Inter"/>
                <a:cs typeface="Inter"/>
              </a:rPr>
              <a:t>“9% flat” NBFI offer. The real annual cost.</a:t>
            </a:r>
          </a:p>
        </p:txBody>
      </p:sp>
      <p:sp>
        <p:nvSpPr>
          <p:cNvPr id="12" name="Rounded Rectangle 11"/>
          <p:cNvSpPr/>
          <p:nvPr/>
        </p:nvSpPr>
        <p:spPr>
          <a:xfrm>
            <a:off x="7680960" y="4343400"/>
            <a:ext cx="3867912" cy="1234440"/>
          </a:xfrm>
          <a:prstGeom prst="roundRect">
            <a:avLst>
              <a:gd name="adj" fmla="val 10370"/>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4434840"/>
            <a:ext cx="1737360" cy="640080"/>
          </a:xfrm>
          <a:prstGeom prst="rect">
            <a:avLst/>
          </a:prstGeom>
          <a:noFill/>
        </p:spPr>
        <p:txBody>
          <a:bodyPr wrap="square" lIns="0" rIns="0" tIns="0" bIns="0" anchor="t">
            <a:spAutoFit/>
          </a:bodyPr>
          <a:lstStyle/>
          <a:p>
            <a:pPr algn="l">
              <a:lnSpc>
                <a:spcPct val="110000"/>
              </a:lnSpc>
              <a:spcAft>
                <a:spcPts val="0"/>
              </a:spcAft>
            </a:pPr>
            <a:r>
              <a:rPr sz="3000" b="1">
                <a:solidFill>
                  <a:srgbClr val="FF7A8A"/>
                </a:solidFill>
                <a:latin typeface="Inter"/>
                <a:ea typeface="Inter"/>
                <a:cs typeface="Inter"/>
              </a:rPr>
              <a:t>15.79%</a:t>
            </a:r>
          </a:p>
        </p:txBody>
      </p:sp>
      <p:sp>
        <p:nvSpPr>
          <p:cNvPr id="14" name="TextBox 13"/>
          <p:cNvSpPr txBox="1"/>
          <p:nvPr/>
        </p:nvSpPr>
        <p:spPr>
          <a:xfrm>
            <a:off x="7909560" y="4965192"/>
            <a:ext cx="3474720" cy="594360"/>
          </a:xfrm>
          <a:prstGeom prst="rect">
            <a:avLst/>
          </a:prstGeom>
          <a:noFill/>
        </p:spPr>
        <p:txBody>
          <a:bodyPr wrap="square" lIns="0" rIns="0" tIns="0" bIns="0" anchor="t">
            <a:spAutoFit/>
          </a:bodyPr>
          <a:lstStyle/>
          <a:p>
            <a:pPr algn="l">
              <a:lnSpc>
                <a:spcPct val="110000"/>
              </a:lnSpc>
              <a:spcAft>
                <a:spcPts val="0"/>
              </a:spcAft>
            </a:pPr>
            <a:r>
              <a:rPr sz="1600" b="0">
                <a:solidFill>
                  <a:srgbClr val="B4C1D2"/>
                </a:solidFill>
                <a:latin typeface="Inter"/>
                <a:ea typeface="Inter"/>
                <a:cs typeface="Inter"/>
              </a:rPr>
              <a:t>Supplier finance. Cheapest, but too small for the gap.</a:t>
            </a:r>
          </a:p>
        </p:txBody>
      </p:sp>
      <p:sp>
        <p:nvSpPr>
          <p:cNvPr id="15" name="TextBox 14"/>
          <p:cNvSpPr txBox="1"/>
          <p:nvPr/>
        </p:nvSpPr>
        <p:spPr>
          <a:xfrm>
            <a:off x="7680960" y="5760720"/>
            <a:ext cx="3867912" cy="457200"/>
          </a:xfrm>
          <a:prstGeom prst="rect">
            <a:avLst/>
          </a:prstGeom>
          <a:noFill/>
        </p:spPr>
        <p:txBody>
          <a:bodyPr wrap="square" lIns="0" rIns="0" tIns="0" bIns="0" anchor="t">
            <a:spAutoFit/>
          </a:bodyPr>
          <a:lstStyle/>
          <a:p>
            <a:pPr algn="l">
              <a:lnSpc>
                <a:spcPct val="110000"/>
              </a:lnSpc>
              <a:spcAft>
                <a:spcPts val="0"/>
              </a:spcAft>
            </a:pPr>
            <a:r>
              <a:rPr sz="1400" b="0">
                <a:solidFill>
                  <a:srgbClr val="8FA0B5"/>
                </a:solidFill>
                <a:latin typeface="Inter"/>
                <a:ea typeface="Inter"/>
                <a:cs typeface="Inter"/>
              </a:rPr>
              <a:t>Exact schedules · effective annual rate · cash-flow fit</a:t>
            </a:r>
          </a:p>
        </p:txBody>
      </p:sp>
      <p:cxnSp>
        <p:nvCxnSpPr>
          <p:cNvPr id="16" name="Connector 15"/>
          <p:cNvCxnSpPr/>
          <p:nvPr/>
        </p:nvCxnSpPr>
        <p:spPr>
          <a:xfrm>
            <a:off x="640080" y="6382512"/>
            <a:ext cx="10911535" cy="0"/>
          </a:xfrm>
          <a:prstGeom prst="line">
            <a:avLst/>
          </a:prstGeom>
          <a:ln>
            <a:solidFill>
              <a:srgbClr val="2A3F5C"/>
            </a:solidFill>
          </a:ln>
        </p:spPr>
        <p:style>
          <a:lnRef idx="2">
            <a:schemeClr val="accent1"/>
          </a:lnRef>
          <a:fillRef idx="0">
            <a:schemeClr val="accent1"/>
          </a:fillRef>
          <a:effectRef idx="1">
            <a:schemeClr val="accent1"/>
          </a:effectRef>
          <a:fontRef idx="minor">
            <a:schemeClr val="tx1"/>
          </a:fontRef>
        </p:style>
      </p:cxnSp>
      <p:pic>
        <p:nvPicPr>
          <p:cNvPr id="17" name="Picture 16" descr="logo.png"/>
          <p:cNvPicPr>
            <a:picLocks noChangeAspect="1"/>
          </p:cNvPicPr>
          <p:nvPr/>
        </p:nvPicPr>
        <p:blipFill>
          <a:blip r:embed="rId4"/>
          <a:stretch>
            <a:fillRect/>
          </a:stretch>
        </p:blipFill>
        <p:spPr>
          <a:xfrm>
            <a:off x="640080" y="6446520"/>
            <a:ext cx="292608" cy="292608"/>
          </a:xfrm>
          <a:prstGeom prst="rect">
            <a:avLst/>
          </a:prstGeom>
        </p:spPr>
      </p:pic>
      <p:sp>
        <p:nvSpPr>
          <p:cNvPr id="18" name="TextBox 17"/>
          <p:cNvSpPr txBox="1"/>
          <p:nvPr/>
        </p:nvSpPr>
        <p:spPr>
          <a:xfrm>
            <a:off x="1024128" y="6464808"/>
            <a:ext cx="7772400" cy="274320"/>
          </a:xfrm>
          <a:prstGeom prst="rect">
            <a:avLst/>
          </a:prstGeom>
          <a:noFill/>
        </p:spPr>
        <p:txBody>
          <a:bodyPr wrap="square" lIns="0" rIns="0" tIns="0" bIns="0" anchor="ctr">
            <a:spAutoFit/>
          </a:bodyPr>
          <a:lstStyle/>
          <a:p>
            <a:pPr algn="l">
              <a:lnSpc>
                <a:spcPct val="110000"/>
              </a:lnSpc>
              <a:spcAft>
                <a:spcPts val="0"/>
              </a:spcAft>
            </a:pPr>
            <a:r>
              <a:rPr sz="1400" b="1">
                <a:solidFill>
                  <a:srgbClr val="B4C1D2"/>
                </a:solidFill>
                <a:latin typeface="Inter"/>
                <a:ea typeface="Inter"/>
                <a:cs typeface="Inter"/>
              </a:rPr>
              <a:t>Capzoryx Copilot</a:t>
            </a:r>
            <a:r>
              <a:rPr sz="1400" b="0">
                <a:solidFill>
                  <a:srgbClr val="8FA0B5"/>
                </a:solidFill>
                <a:latin typeface="Inter"/>
                <a:ea typeface="Inter"/>
                <a:cs typeface="Inter"/>
              </a:rPr>
              <a:t>  ·  2026 Shenzhen International FinTechathon  ·  Topic E</a:t>
            </a:r>
          </a:p>
        </p:txBody>
      </p:sp>
      <p:sp>
        <p:nvSpPr>
          <p:cNvPr id="19" name="TextBox 18"/>
          <p:cNvSpPr txBox="1"/>
          <p:nvPr/>
        </p:nvSpPr>
        <p:spPr>
          <a:xfrm>
            <a:off x="9722815" y="6464808"/>
            <a:ext cx="1828800" cy="274320"/>
          </a:xfrm>
          <a:prstGeom prst="rect">
            <a:avLst/>
          </a:prstGeom>
          <a:noFill/>
        </p:spPr>
        <p:txBody>
          <a:bodyPr wrap="square" lIns="0" rIns="0" tIns="0" bIns="0" anchor="ctr">
            <a:spAutoFit/>
          </a:bodyPr>
          <a:lstStyle/>
          <a:p>
            <a:pPr algn="r">
              <a:lnSpc>
                <a:spcPct val="110000"/>
              </a:lnSpc>
              <a:spcAft>
                <a:spcPts val="0"/>
              </a:spcAft>
            </a:pPr>
            <a:r>
              <a:rPr sz="1400" b="1">
                <a:solidFill>
                  <a:srgbClr val="B4C1D2"/>
                </a:solidFill>
                <a:latin typeface="Inter"/>
                <a:ea typeface="Inter"/>
                <a:cs typeface="Inter"/>
              </a:rPr>
              <a:t>07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lIns="0" rIns="0" tIns="0" bIns="0" anchor="t">
            <a:spAutoFit/>
          </a:bodyPr>
          <a:lstStyle/>
          <a:p>
            <a:pPr algn="l">
              <a:lnSpc>
                <a:spcPct val="110000"/>
              </a:lnSpc>
              <a:spcAft>
                <a:spcPts val="0"/>
              </a:spcAft>
            </a:pPr>
            <a:r>
              <a:rPr sz="1400" b="1" spc="200">
                <a:solidFill>
                  <a:srgbClr val="3BE3C1"/>
                </a:solidFill>
                <a:latin typeface="Inter"/>
                <a:ea typeface="Inter"/>
                <a:cs typeface="Inter"/>
              </a:rPr>
              <a:t>06 / SAFETY AS A FEATURE</a:t>
            </a:r>
          </a:p>
        </p:txBody>
      </p:sp>
      <p:sp>
        <p:nvSpPr>
          <p:cNvPr id="3" name="TextBox 2"/>
          <p:cNvSpPr txBox="1"/>
          <p:nvPr/>
        </p:nvSpPr>
        <p:spPr>
          <a:xfrm>
            <a:off x="640080" y="713232"/>
            <a:ext cx="10881360" cy="731520"/>
          </a:xfrm>
          <a:prstGeom prst="rect">
            <a:avLst/>
          </a:prstGeom>
          <a:noFill/>
        </p:spPr>
        <p:txBody>
          <a:bodyPr wrap="square" lIns="0" rIns="0" tIns="0" bIns="0" anchor="t">
            <a:spAutoFit/>
          </a:bodyPr>
          <a:lstStyle/>
          <a:p>
            <a:pPr algn="l">
              <a:lnSpc>
                <a:spcPct val="100000"/>
              </a:lnSpc>
              <a:spcAft>
                <a:spcPts val="0"/>
              </a:spcAft>
            </a:pPr>
            <a:r>
              <a:rPr sz="3600" b="1">
                <a:solidFill>
                  <a:srgbClr val="FFFFFF"/>
                </a:solidFill>
                <a:latin typeface="Inter"/>
                <a:ea typeface="Inter"/>
                <a:cs typeface="Inter"/>
              </a:rPr>
              <a:t>The model can suggest. It cannot approve.</a:t>
            </a:r>
          </a:p>
        </p:txBody>
      </p:sp>
      <p:sp>
        <p:nvSpPr>
          <p:cNvPr id="4" name="Rounded Rectangle 3"/>
          <p:cNvSpPr/>
          <p:nvPr/>
        </p:nvSpPr>
        <p:spPr>
          <a:xfrm>
            <a:off x="640080" y="1554480"/>
            <a:ext cx="2057400" cy="1188720"/>
          </a:xfrm>
          <a:prstGeom prst="roundRect">
            <a:avLst>
              <a:gd name="adj" fmla="val 10769"/>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27632"/>
            <a:ext cx="1737360" cy="320040"/>
          </a:xfrm>
          <a:prstGeom prst="rect">
            <a:avLst/>
          </a:prstGeom>
          <a:noFill/>
        </p:spPr>
        <p:txBody>
          <a:bodyPr wrap="square" lIns="0" rIns="0" tIns="0" bIns="0" anchor="t">
            <a:spAutoFit/>
          </a:bodyPr>
          <a:lstStyle/>
          <a:p>
            <a:pPr algn="l">
              <a:lnSpc>
                <a:spcPct val="110000"/>
              </a:lnSpc>
              <a:spcAft>
                <a:spcPts val="0"/>
              </a:spcAft>
            </a:pPr>
            <a:r>
              <a:rPr sz="1600" b="1">
                <a:solidFill>
                  <a:srgbClr val="3BE3C1"/>
                </a:solidFill>
                <a:latin typeface="Inter"/>
                <a:ea typeface="Inter"/>
                <a:cs typeface="Inter"/>
              </a:rPr>
              <a:t>01</a:t>
            </a:r>
          </a:p>
        </p:txBody>
      </p:sp>
      <p:sp>
        <p:nvSpPr>
          <p:cNvPr id="6" name="TextBox 5"/>
          <p:cNvSpPr txBox="1"/>
          <p:nvPr/>
        </p:nvSpPr>
        <p:spPr>
          <a:xfrm>
            <a:off x="777240" y="1920240"/>
            <a:ext cx="1874519" cy="365760"/>
          </a:xfrm>
          <a:prstGeom prst="rect">
            <a:avLst/>
          </a:prstGeom>
          <a:noFill/>
        </p:spPr>
        <p:txBody>
          <a:bodyPr wrap="square" lIns="0" rIns="0" tIns="0" bIns="0" anchor="t">
            <a:spAutoFit/>
          </a:bodyPr>
          <a:lstStyle/>
          <a:p>
            <a:pPr algn="l">
              <a:lnSpc>
                <a:spcPct val="110000"/>
              </a:lnSpc>
              <a:spcAft>
                <a:spcPts val="0"/>
              </a:spcAft>
            </a:pPr>
            <a:r>
              <a:rPr sz="1400" b="1">
                <a:solidFill>
                  <a:srgbClr val="FFFFFF"/>
                </a:solidFill>
                <a:latin typeface="Inter"/>
                <a:ea typeface="Inter"/>
                <a:cs typeface="Inter"/>
              </a:rPr>
              <a:t>SOURCE</a:t>
            </a:r>
          </a:p>
        </p:txBody>
      </p:sp>
      <p:sp>
        <p:nvSpPr>
          <p:cNvPr id="7" name="TextBox 6"/>
          <p:cNvSpPr txBox="1"/>
          <p:nvPr/>
        </p:nvSpPr>
        <p:spPr>
          <a:xfrm>
            <a:off x="777240" y="2286000"/>
            <a:ext cx="1874519" cy="365760"/>
          </a:xfrm>
          <a:prstGeom prst="rect">
            <a:avLst/>
          </a:prstGeom>
          <a:noFill/>
        </p:spPr>
        <p:txBody>
          <a:bodyPr wrap="square" lIns="0" rIns="0" tIns="0" bIns="0" anchor="t">
            <a:spAutoFit/>
          </a:bodyPr>
          <a:lstStyle/>
          <a:p>
            <a:pPr algn="l">
              <a:lnSpc>
                <a:spcPct val="110000"/>
              </a:lnSpc>
              <a:spcAft>
                <a:spcPts val="0"/>
              </a:spcAft>
            </a:pPr>
            <a:r>
              <a:rPr sz="1400" b="0">
                <a:solidFill>
                  <a:srgbClr val="B4C1D2"/>
                </a:solidFill>
                <a:latin typeface="Inter"/>
                <a:ea typeface="Inter"/>
                <a:cs typeface="Inter"/>
              </a:rPr>
              <a:t>Invoice + payee</a:t>
            </a:r>
          </a:p>
        </p:txBody>
      </p:sp>
      <p:sp>
        <p:nvSpPr>
          <p:cNvPr id="8" name="Chevron 7"/>
          <p:cNvSpPr/>
          <p:nvPr/>
        </p:nvSpPr>
        <p:spPr>
          <a:xfrm>
            <a:off x="2715768" y="2029968"/>
            <a:ext cx="128016" cy="237744"/>
          </a:xfrm>
          <a:prstGeom prst="chevron">
            <a:avLst/>
          </a:prstGeom>
          <a:solidFill>
            <a:srgbClr val="3BE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62072" y="1554480"/>
            <a:ext cx="2057400" cy="1188720"/>
          </a:xfrm>
          <a:prstGeom prst="roundRect">
            <a:avLst>
              <a:gd name="adj" fmla="val 10769"/>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9232" y="1627632"/>
            <a:ext cx="1737360" cy="320040"/>
          </a:xfrm>
          <a:prstGeom prst="rect">
            <a:avLst/>
          </a:prstGeom>
          <a:noFill/>
        </p:spPr>
        <p:txBody>
          <a:bodyPr wrap="square" lIns="0" rIns="0" tIns="0" bIns="0" anchor="t">
            <a:spAutoFit/>
          </a:bodyPr>
          <a:lstStyle/>
          <a:p>
            <a:pPr algn="l">
              <a:lnSpc>
                <a:spcPct val="110000"/>
              </a:lnSpc>
              <a:spcAft>
                <a:spcPts val="0"/>
              </a:spcAft>
            </a:pPr>
            <a:r>
              <a:rPr sz="1600" b="1">
                <a:solidFill>
                  <a:srgbClr val="3BE3C1"/>
                </a:solidFill>
                <a:latin typeface="Inter"/>
                <a:ea typeface="Inter"/>
                <a:cs typeface="Inter"/>
              </a:rPr>
              <a:t>02</a:t>
            </a:r>
          </a:p>
        </p:txBody>
      </p:sp>
      <p:sp>
        <p:nvSpPr>
          <p:cNvPr id="11" name="TextBox 10"/>
          <p:cNvSpPr txBox="1"/>
          <p:nvPr/>
        </p:nvSpPr>
        <p:spPr>
          <a:xfrm>
            <a:off x="2999232" y="1920240"/>
            <a:ext cx="1874519" cy="365760"/>
          </a:xfrm>
          <a:prstGeom prst="rect">
            <a:avLst/>
          </a:prstGeom>
          <a:noFill/>
        </p:spPr>
        <p:txBody>
          <a:bodyPr wrap="square" lIns="0" rIns="0" tIns="0" bIns="0" anchor="t">
            <a:spAutoFit/>
          </a:bodyPr>
          <a:lstStyle/>
          <a:p>
            <a:pPr algn="l">
              <a:lnSpc>
                <a:spcPct val="110000"/>
              </a:lnSpc>
              <a:spcAft>
                <a:spcPts val="0"/>
              </a:spcAft>
            </a:pPr>
            <a:r>
              <a:rPr sz="1400" b="1">
                <a:solidFill>
                  <a:srgbClr val="FFFFFF"/>
                </a:solidFill>
                <a:latin typeface="Inter"/>
                <a:ea typeface="Inter"/>
                <a:cs typeface="Inter"/>
              </a:rPr>
              <a:t>EXACT MATH</a:t>
            </a:r>
          </a:p>
        </p:txBody>
      </p:sp>
      <p:sp>
        <p:nvSpPr>
          <p:cNvPr id="12" name="TextBox 11"/>
          <p:cNvSpPr txBox="1"/>
          <p:nvPr/>
        </p:nvSpPr>
        <p:spPr>
          <a:xfrm>
            <a:off x="2999232" y="2286000"/>
            <a:ext cx="1874519" cy="365760"/>
          </a:xfrm>
          <a:prstGeom prst="rect">
            <a:avLst/>
          </a:prstGeom>
          <a:noFill/>
        </p:spPr>
        <p:txBody>
          <a:bodyPr wrap="square" lIns="0" rIns="0" tIns="0" bIns="0" anchor="t">
            <a:spAutoFit/>
          </a:bodyPr>
          <a:lstStyle/>
          <a:p>
            <a:pPr algn="l">
              <a:lnSpc>
                <a:spcPct val="110000"/>
              </a:lnSpc>
              <a:spcAft>
                <a:spcPts val="0"/>
              </a:spcAft>
            </a:pPr>
            <a:r>
              <a:rPr sz="1400" b="0">
                <a:solidFill>
                  <a:srgbClr val="B4C1D2"/>
                </a:solidFill>
                <a:latin typeface="Inter"/>
                <a:ea typeface="Inter"/>
                <a:cs typeface="Inter"/>
              </a:rPr>
              <a:t>Amount + reserve</a:t>
            </a:r>
          </a:p>
        </p:txBody>
      </p:sp>
      <p:sp>
        <p:nvSpPr>
          <p:cNvPr id="13" name="Chevron 12"/>
          <p:cNvSpPr/>
          <p:nvPr/>
        </p:nvSpPr>
        <p:spPr>
          <a:xfrm>
            <a:off x="4937760" y="2029968"/>
            <a:ext cx="128016" cy="237744"/>
          </a:xfrm>
          <a:prstGeom prst="chevron">
            <a:avLst/>
          </a:prstGeom>
          <a:solidFill>
            <a:srgbClr val="3BE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84064" y="1554480"/>
            <a:ext cx="2057400" cy="1188720"/>
          </a:xfrm>
          <a:prstGeom prst="roundRect">
            <a:avLst>
              <a:gd name="adj" fmla="val 10769"/>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21224" y="1627632"/>
            <a:ext cx="1737360" cy="320040"/>
          </a:xfrm>
          <a:prstGeom prst="rect">
            <a:avLst/>
          </a:prstGeom>
          <a:noFill/>
        </p:spPr>
        <p:txBody>
          <a:bodyPr wrap="square" lIns="0" rIns="0" tIns="0" bIns="0" anchor="t">
            <a:spAutoFit/>
          </a:bodyPr>
          <a:lstStyle/>
          <a:p>
            <a:pPr algn="l">
              <a:lnSpc>
                <a:spcPct val="110000"/>
              </a:lnSpc>
              <a:spcAft>
                <a:spcPts val="0"/>
              </a:spcAft>
            </a:pPr>
            <a:r>
              <a:rPr sz="1600" b="1">
                <a:solidFill>
                  <a:srgbClr val="3BE3C1"/>
                </a:solidFill>
                <a:latin typeface="Inter"/>
                <a:ea typeface="Inter"/>
                <a:cs typeface="Inter"/>
              </a:rPr>
              <a:t>03</a:t>
            </a:r>
          </a:p>
        </p:txBody>
      </p:sp>
      <p:sp>
        <p:nvSpPr>
          <p:cNvPr id="16" name="TextBox 15"/>
          <p:cNvSpPr txBox="1"/>
          <p:nvPr/>
        </p:nvSpPr>
        <p:spPr>
          <a:xfrm>
            <a:off x="5221224" y="1920240"/>
            <a:ext cx="1874519" cy="365760"/>
          </a:xfrm>
          <a:prstGeom prst="rect">
            <a:avLst/>
          </a:prstGeom>
          <a:noFill/>
        </p:spPr>
        <p:txBody>
          <a:bodyPr wrap="square" lIns="0" rIns="0" tIns="0" bIns="0" anchor="t">
            <a:spAutoFit/>
          </a:bodyPr>
          <a:lstStyle/>
          <a:p>
            <a:pPr algn="l">
              <a:lnSpc>
                <a:spcPct val="110000"/>
              </a:lnSpc>
              <a:spcAft>
                <a:spcPts val="0"/>
              </a:spcAft>
            </a:pPr>
            <a:r>
              <a:rPr sz="1400" b="1">
                <a:solidFill>
                  <a:srgbClr val="FFFFFF"/>
                </a:solidFill>
                <a:latin typeface="Inter"/>
                <a:ea typeface="Inter"/>
                <a:cs typeface="Inter"/>
              </a:rPr>
              <a:t>AI PROPOSES</a:t>
            </a:r>
          </a:p>
        </p:txBody>
      </p:sp>
      <p:sp>
        <p:nvSpPr>
          <p:cNvPr id="17" name="TextBox 16"/>
          <p:cNvSpPr txBox="1"/>
          <p:nvPr/>
        </p:nvSpPr>
        <p:spPr>
          <a:xfrm>
            <a:off x="5221224" y="2286000"/>
            <a:ext cx="1874519" cy="365760"/>
          </a:xfrm>
          <a:prstGeom prst="rect">
            <a:avLst/>
          </a:prstGeom>
          <a:noFill/>
        </p:spPr>
        <p:txBody>
          <a:bodyPr wrap="square" lIns="0" rIns="0" tIns="0" bIns="0" anchor="t">
            <a:spAutoFit/>
          </a:bodyPr>
          <a:lstStyle/>
          <a:p>
            <a:pPr algn="l">
              <a:lnSpc>
                <a:spcPct val="110000"/>
              </a:lnSpc>
              <a:spcAft>
                <a:spcPts val="0"/>
              </a:spcAft>
            </a:pPr>
            <a:r>
              <a:rPr sz="1400" b="0">
                <a:solidFill>
                  <a:srgbClr val="B4C1D2"/>
                </a:solidFill>
                <a:latin typeface="Inter"/>
                <a:ea typeface="Inter"/>
                <a:cs typeface="Inter"/>
              </a:rPr>
              <a:t>Typed tools only</a:t>
            </a:r>
          </a:p>
        </p:txBody>
      </p:sp>
      <p:sp>
        <p:nvSpPr>
          <p:cNvPr id="18" name="Chevron 17"/>
          <p:cNvSpPr/>
          <p:nvPr/>
        </p:nvSpPr>
        <p:spPr>
          <a:xfrm>
            <a:off x="7159752" y="2029968"/>
            <a:ext cx="128016" cy="237744"/>
          </a:xfrm>
          <a:prstGeom prst="chevron">
            <a:avLst/>
          </a:prstGeom>
          <a:solidFill>
            <a:srgbClr val="3BE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06056" y="1554480"/>
            <a:ext cx="2057400" cy="1188720"/>
          </a:xfrm>
          <a:prstGeom prst="roundRect">
            <a:avLst>
              <a:gd name="adj" fmla="val 10769"/>
            </a:avLst>
          </a:prstGeom>
          <a:solidFill>
            <a:srgbClr val="123A3A"/>
          </a:solidFill>
          <a:ln w="19050">
            <a:solidFill>
              <a:srgbClr val="3BE3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43216" y="1627632"/>
            <a:ext cx="1737360" cy="320040"/>
          </a:xfrm>
          <a:prstGeom prst="rect">
            <a:avLst/>
          </a:prstGeom>
          <a:noFill/>
        </p:spPr>
        <p:txBody>
          <a:bodyPr wrap="square" lIns="0" rIns="0" tIns="0" bIns="0" anchor="t">
            <a:spAutoFit/>
          </a:bodyPr>
          <a:lstStyle/>
          <a:p>
            <a:pPr algn="l">
              <a:lnSpc>
                <a:spcPct val="110000"/>
              </a:lnSpc>
              <a:spcAft>
                <a:spcPts val="0"/>
              </a:spcAft>
            </a:pPr>
            <a:r>
              <a:rPr sz="1600" b="1">
                <a:solidFill>
                  <a:srgbClr val="3BE3C1"/>
                </a:solidFill>
                <a:latin typeface="Inter"/>
                <a:ea typeface="Inter"/>
                <a:cs typeface="Inter"/>
              </a:rPr>
              <a:t>04</a:t>
            </a:r>
          </a:p>
        </p:txBody>
      </p:sp>
      <p:sp>
        <p:nvSpPr>
          <p:cNvPr id="21" name="TextBox 20"/>
          <p:cNvSpPr txBox="1"/>
          <p:nvPr/>
        </p:nvSpPr>
        <p:spPr>
          <a:xfrm>
            <a:off x="7443216" y="1920240"/>
            <a:ext cx="1874519" cy="365760"/>
          </a:xfrm>
          <a:prstGeom prst="rect">
            <a:avLst/>
          </a:prstGeom>
          <a:noFill/>
        </p:spPr>
        <p:txBody>
          <a:bodyPr wrap="square" lIns="0" rIns="0" tIns="0" bIns="0" anchor="t">
            <a:spAutoFit/>
          </a:bodyPr>
          <a:lstStyle/>
          <a:p>
            <a:pPr algn="l">
              <a:lnSpc>
                <a:spcPct val="110000"/>
              </a:lnSpc>
              <a:spcAft>
                <a:spcPts val="0"/>
              </a:spcAft>
            </a:pPr>
            <a:r>
              <a:rPr sz="1400" b="1">
                <a:solidFill>
                  <a:srgbClr val="FFFFFF"/>
                </a:solidFill>
                <a:latin typeface="Inter"/>
                <a:ea typeface="Inter"/>
                <a:cs typeface="Inter"/>
              </a:rPr>
              <a:t>HUMAN APPROVES</a:t>
            </a:r>
          </a:p>
        </p:txBody>
      </p:sp>
      <p:sp>
        <p:nvSpPr>
          <p:cNvPr id="22" name="TextBox 21"/>
          <p:cNvSpPr txBox="1"/>
          <p:nvPr/>
        </p:nvSpPr>
        <p:spPr>
          <a:xfrm>
            <a:off x="7443216" y="2286000"/>
            <a:ext cx="1874519" cy="365760"/>
          </a:xfrm>
          <a:prstGeom prst="rect">
            <a:avLst/>
          </a:prstGeom>
          <a:noFill/>
        </p:spPr>
        <p:txBody>
          <a:bodyPr wrap="square" lIns="0" rIns="0" tIns="0" bIns="0" anchor="t">
            <a:spAutoFit/>
          </a:bodyPr>
          <a:lstStyle/>
          <a:p>
            <a:pPr algn="l">
              <a:lnSpc>
                <a:spcPct val="110000"/>
              </a:lnSpc>
              <a:spcAft>
                <a:spcPts val="0"/>
              </a:spcAft>
            </a:pPr>
            <a:r>
              <a:rPr sz="1400" b="0">
                <a:solidFill>
                  <a:srgbClr val="B4C1D2"/>
                </a:solidFill>
                <a:latin typeface="Inter"/>
                <a:ea typeface="Inter"/>
                <a:cs typeface="Inter"/>
              </a:rPr>
              <a:t>Other account</a:t>
            </a:r>
          </a:p>
        </p:txBody>
      </p:sp>
      <p:sp>
        <p:nvSpPr>
          <p:cNvPr id="23" name="Chevron 22"/>
          <p:cNvSpPr/>
          <p:nvPr/>
        </p:nvSpPr>
        <p:spPr>
          <a:xfrm>
            <a:off x="9381744" y="2029968"/>
            <a:ext cx="128016" cy="237744"/>
          </a:xfrm>
          <a:prstGeom prst="chevron">
            <a:avLst/>
          </a:prstGeom>
          <a:solidFill>
            <a:srgbClr val="3BE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528048" y="1554480"/>
            <a:ext cx="2057400" cy="1188720"/>
          </a:xfrm>
          <a:prstGeom prst="roundRect">
            <a:avLst>
              <a:gd name="adj" fmla="val 10769"/>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65208" y="1627632"/>
            <a:ext cx="1737360" cy="320040"/>
          </a:xfrm>
          <a:prstGeom prst="rect">
            <a:avLst/>
          </a:prstGeom>
          <a:noFill/>
        </p:spPr>
        <p:txBody>
          <a:bodyPr wrap="square" lIns="0" rIns="0" tIns="0" bIns="0" anchor="t">
            <a:spAutoFit/>
          </a:bodyPr>
          <a:lstStyle/>
          <a:p>
            <a:pPr algn="l">
              <a:lnSpc>
                <a:spcPct val="110000"/>
              </a:lnSpc>
              <a:spcAft>
                <a:spcPts val="0"/>
              </a:spcAft>
            </a:pPr>
            <a:r>
              <a:rPr sz="1600" b="1">
                <a:solidFill>
                  <a:srgbClr val="3BE3C1"/>
                </a:solidFill>
                <a:latin typeface="Inter"/>
                <a:ea typeface="Inter"/>
                <a:cs typeface="Inter"/>
              </a:rPr>
              <a:t>05</a:t>
            </a:r>
          </a:p>
        </p:txBody>
      </p:sp>
      <p:sp>
        <p:nvSpPr>
          <p:cNvPr id="26" name="TextBox 25"/>
          <p:cNvSpPr txBox="1"/>
          <p:nvPr/>
        </p:nvSpPr>
        <p:spPr>
          <a:xfrm>
            <a:off x="9665208" y="1920240"/>
            <a:ext cx="1874519" cy="365760"/>
          </a:xfrm>
          <a:prstGeom prst="rect">
            <a:avLst/>
          </a:prstGeom>
          <a:noFill/>
        </p:spPr>
        <p:txBody>
          <a:bodyPr wrap="square" lIns="0" rIns="0" tIns="0" bIns="0" anchor="t">
            <a:spAutoFit/>
          </a:bodyPr>
          <a:lstStyle/>
          <a:p>
            <a:pPr algn="l">
              <a:lnSpc>
                <a:spcPct val="110000"/>
              </a:lnSpc>
              <a:spcAft>
                <a:spcPts val="0"/>
              </a:spcAft>
            </a:pPr>
            <a:r>
              <a:rPr sz="1400" b="1">
                <a:solidFill>
                  <a:srgbClr val="FFFFFF"/>
                </a:solidFill>
                <a:latin typeface="Inter"/>
                <a:ea typeface="Inter"/>
                <a:cs typeface="Inter"/>
              </a:rPr>
              <a:t>LEDGER + AUDIT</a:t>
            </a:r>
          </a:p>
        </p:txBody>
      </p:sp>
      <p:sp>
        <p:nvSpPr>
          <p:cNvPr id="27" name="TextBox 26"/>
          <p:cNvSpPr txBox="1"/>
          <p:nvPr/>
        </p:nvSpPr>
        <p:spPr>
          <a:xfrm>
            <a:off x="9665208" y="2286000"/>
            <a:ext cx="1874519" cy="365760"/>
          </a:xfrm>
          <a:prstGeom prst="rect">
            <a:avLst/>
          </a:prstGeom>
          <a:noFill/>
        </p:spPr>
        <p:txBody>
          <a:bodyPr wrap="square" lIns="0" rIns="0" tIns="0" bIns="0" anchor="t">
            <a:spAutoFit/>
          </a:bodyPr>
          <a:lstStyle/>
          <a:p>
            <a:pPr algn="l">
              <a:lnSpc>
                <a:spcPct val="110000"/>
              </a:lnSpc>
              <a:spcAft>
                <a:spcPts val="0"/>
              </a:spcAft>
            </a:pPr>
            <a:r>
              <a:rPr sz="1400" b="0">
                <a:solidFill>
                  <a:srgbClr val="B4C1D2"/>
                </a:solidFill>
                <a:latin typeface="Inter"/>
                <a:ea typeface="Inter"/>
                <a:cs typeface="Inter"/>
              </a:rPr>
              <a:t>Once, signed</a:t>
            </a:r>
          </a:p>
        </p:txBody>
      </p:sp>
      <p:pic>
        <p:nvPicPr>
          <p:cNvPr id="28" name="Picture 27" descr="Warning banner: this invoice may be a duplicate"/>
          <p:cNvPicPr>
            <a:picLocks noChangeAspect="1"/>
          </p:cNvPicPr>
          <p:nvPr/>
        </p:nvPicPr>
        <p:blipFill>
          <a:blip r:embed="rId3"/>
          <a:stretch>
            <a:fillRect/>
          </a:stretch>
        </p:blipFill>
        <p:spPr>
          <a:xfrm>
            <a:off x="612647" y="2944368"/>
            <a:ext cx="6912864" cy="835914"/>
          </a:xfrm>
          <a:prstGeom prst="rect">
            <a:avLst/>
          </a:prstGeom>
        </p:spPr>
      </p:pic>
      <p:sp>
        <p:nvSpPr>
          <p:cNvPr id="29" name="TextBox 28"/>
          <p:cNvSpPr txBox="1"/>
          <p:nvPr/>
        </p:nvSpPr>
        <p:spPr>
          <a:xfrm>
            <a:off x="868680" y="3615690"/>
            <a:ext cx="6400800" cy="274320"/>
          </a:xfrm>
          <a:prstGeom prst="rect">
            <a:avLst/>
          </a:prstGeom>
          <a:noFill/>
        </p:spPr>
        <p:txBody>
          <a:bodyPr wrap="square" lIns="0" rIns="0" tIns="0" bIns="0" anchor="t">
            <a:spAutoFit/>
          </a:bodyPr>
          <a:lstStyle/>
          <a:p>
            <a:pPr algn="l">
              <a:lnSpc>
                <a:spcPct val="110000"/>
              </a:lnSpc>
              <a:spcAft>
                <a:spcPts val="0"/>
              </a:spcAft>
            </a:pPr>
            <a:r>
              <a:rPr sz="1400" b="0">
                <a:solidFill>
                  <a:srgbClr val="8FA0B5"/>
                </a:solidFill>
                <a:latin typeface="Inter"/>
                <a:ea typeface="Inter"/>
                <a:cs typeface="Inter"/>
              </a:rPr>
              <a:t>A resent invoice with an “ignore duplicate checks” memo is paused.</a:t>
            </a:r>
          </a:p>
        </p:txBody>
      </p:sp>
      <p:pic>
        <p:nvPicPr>
          <p:cNvPr id="30" name="Picture 29" descr="Approvals panel: payment waiting for a second person"/>
          <p:cNvPicPr>
            <a:picLocks noChangeAspect="1"/>
          </p:cNvPicPr>
          <p:nvPr/>
        </p:nvPicPr>
        <p:blipFill>
          <a:blip r:embed="rId4"/>
          <a:stretch>
            <a:fillRect/>
          </a:stretch>
        </p:blipFill>
        <p:spPr>
          <a:xfrm>
            <a:off x="612647" y="3767328"/>
            <a:ext cx="5998464" cy="2439924"/>
          </a:xfrm>
          <a:prstGeom prst="rect">
            <a:avLst/>
          </a:prstGeom>
        </p:spPr>
      </p:pic>
      <p:sp>
        <p:nvSpPr>
          <p:cNvPr id="31" name="Rounded Rectangle 30"/>
          <p:cNvSpPr/>
          <p:nvPr/>
        </p:nvSpPr>
        <p:spPr>
          <a:xfrm>
            <a:off x="7772400" y="3246120"/>
            <a:ext cx="3776472" cy="548640"/>
          </a:xfrm>
          <a:prstGeom prst="roundRect">
            <a:avLst>
              <a:gd name="adj" fmla="val 50000"/>
            </a:avLst>
          </a:prstGeom>
          <a:solidFill>
            <a:srgbClr val="172A44"/>
          </a:solidFill>
          <a:ln w="15875">
            <a:solidFill>
              <a:srgbClr val="C7F3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0" y="3246120"/>
            <a:ext cx="3776472" cy="548640"/>
          </a:xfrm>
          <a:prstGeom prst="rect">
            <a:avLst/>
          </a:prstGeom>
          <a:noFill/>
        </p:spPr>
        <p:txBody>
          <a:bodyPr wrap="square" lIns="0" rIns="0" tIns="0" bIns="0" anchor="ctr">
            <a:spAutoFit/>
          </a:bodyPr>
          <a:lstStyle/>
          <a:p>
            <a:pPr algn="ctr">
              <a:lnSpc>
                <a:spcPct val="110000"/>
              </a:lnSpc>
              <a:spcAft>
                <a:spcPts val="0"/>
              </a:spcAft>
            </a:pPr>
            <a:r>
              <a:rPr sz="1600" b="1">
                <a:solidFill>
                  <a:srgbClr val="C7F36B"/>
                </a:solidFill>
                <a:latin typeface="Inter"/>
                <a:ea typeface="Inter"/>
                <a:cs typeface="Inter"/>
              </a:rPr>
              <a:t>NO BANK CREDENTIALS</a:t>
            </a:r>
          </a:p>
        </p:txBody>
      </p:sp>
      <p:sp>
        <p:nvSpPr>
          <p:cNvPr id="33" name="Rounded Rectangle 32"/>
          <p:cNvSpPr/>
          <p:nvPr/>
        </p:nvSpPr>
        <p:spPr>
          <a:xfrm>
            <a:off x="7772400" y="3977639"/>
            <a:ext cx="3776472" cy="548640"/>
          </a:xfrm>
          <a:prstGeom prst="roundRect">
            <a:avLst>
              <a:gd name="adj" fmla="val 50000"/>
            </a:avLst>
          </a:prstGeom>
          <a:solidFill>
            <a:srgbClr val="172A44"/>
          </a:solidFill>
          <a:ln w="15875">
            <a:solidFill>
              <a:srgbClr val="C7F3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0" y="3977639"/>
            <a:ext cx="3776472" cy="548640"/>
          </a:xfrm>
          <a:prstGeom prst="rect">
            <a:avLst/>
          </a:prstGeom>
          <a:noFill/>
        </p:spPr>
        <p:txBody>
          <a:bodyPr wrap="square" lIns="0" rIns="0" tIns="0" bIns="0" anchor="ctr">
            <a:spAutoFit/>
          </a:bodyPr>
          <a:lstStyle/>
          <a:p>
            <a:pPr algn="ctr">
              <a:lnSpc>
                <a:spcPct val="110000"/>
              </a:lnSpc>
              <a:spcAft>
                <a:spcPts val="0"/>
              </a:spcAft>
            </a:pPr>
            <a:r>
              <a:rPr sz="1600" b="1">
                <a:solidFill>
                  <a:srgbClr val="C7F36B"/>
                </a:solidFill>
                <a:latin typeface="Inter"/>
                <a:ea typeface="Inter"/>
                <a:cs typeface="Inter"/>
              </a:rPr>
              <a:t>NO AI PAYMENT EXECUTION</a:t>
            </a:r>
          </a:p>
        </p:txBody>
      </p:sp>
      <p:sp>
        <p:nvSpPr>
          <p:cNvPr id="35" name="Rounded Rectangle 34"/>
          <p:cNvSpPr/>
          <p:nvPr/>
        </p:nvSpPr>
        <p:spPr>
          <a:xfrm>
            <a:off x="7772400" y="4709160"/>
            <a:ext cx="3776472" cy="548640"/>
          </a:xfrm>
          <a:prstGeom prst="roundRect">
            <a:avLst>
              <a:gd name="adj" fmla="val 50000"/>
            </a:avLst>
          </a:prstGeom>
          <a:solidFill>
            <a:srgbClr val="172A44"/>
          </a:solidFill>
          <a:ln w="15875">
            <a:solidFill>
              <a:srgbClr val="C7F3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0" y="4709160"/>
            <a:ext cx="3776472" cy="548640"/>
          </a:xfrm>
          <a:prstGeom prst="rect">
            <a:avLst/>
          </a:prstGeom>
          <a:noFill/>
        </p:spPr>
        <p:txBody>
          <a:bodyPr wrap="square" lIns="0" rIns="0" tIns="0" bIns="0" anchor="ctr">
            <a:spAutoFit/>
          </a:bodyPr>
          <a:lstStyle/>
          <a:p>
            <a:pPr algn="ctr">
              <a:lnSpc>
                <a:spcPct val="110000"/>
              </a:lnSpc>
              <a:spcAft>
                <a:spcPts val="0"/>
              </a:spcAft>
            </a:pPr>
            <a:r>
              <a:rPr sz="1600" b="1">
                <a:solidFill>
                  <a:srgbClr val="C7F36B"/>
                </a:solidFill>
                <a:latin typeface="Inter"/>
                <a:ea typeface="Inter"/>
                <a:cs typeface="Inter"/>
              </a:rPr>
              <a:t>NO SELF-APPROVAL</a:t>
            </a:r>
          </a:p>
        </p:txBody>
      </p:sp>
      <p:sp>
        <p:nvSpPr>
          <p:cNvPr id="37" name="TextBox 36"/>
          <p:cNvSpPr txBox="1"/>
          <p:nvPr/>
        </p:nvSpPr>
        <p:spPr>
          <a:xfrm>
            <a:off x="7772400" y="5486400"/>
            <a:ext cx="3776472" cy="822960"/>
          </a:xfrm>
          <a:prstGeom prst="rect">
            <a:avLst/>
          </a:prstGeom>
          <a:noFill/>
        </p:spPr>
        <p:txBody>
          <a:bodyPr wrap="square" lIns="0" rIns="0" tIns="0" bIns="0" anchor="t">
            <a:spAutoFit/>
          </a:bodyPr>
          <a:lstStyle/>
          <a:p>
            <a:pPr algn="l">
              <a:lnSpc>
                <a:spcPct val="110000"/>
              </a:lnSpc>
              <a:spcAft>
                <a:spcPts val="0"/>
              </a:spcAft>
            </a:pPr>
            <a:r>
              <a:rPr sz="1500" b="0">
                <a:solidFill>
                  <a:srgbClr val="B4C1D2"/>
                </a:solidFill>
                <a:latin typeface="Inter"/>
                <a:ea typeface="Inter"/>
                <a:cs typeface="Inter"/>
              </a:rPr>
              <a:t>Approving records a posting in the books. Capzoryx never sends a bank transfer.</a:t>
            </a:r>
          </a:p>
        </p:txBody>
      </p:sp>
      <p:cxnSp>
        <p:nvCxnSpPr>
          <p:cNvPr id="38" name="Connector 37"/>
          <p:cNvCxnSpPr/>
          <p:nvPr/>
        </p:nvCxnSpPr>
        <p:spPr>
          <a:xfrm>
            <a:off x="640080" y="6382512"/>
            <a:ext cx="10911535" cy="0"/>
          </a:xfrm>
          <a:prstGeom prst="line">
            <a:avLst/>
          </a:prstGeom>
          <a:ln>
            <a:solidFill>
              <a:srgbClr val="2A3F5C"/>
            </a:solidFill>
          </a:ln>
        </p:spPr>
        <p:style>
          <a:lnRef idx="2">
            <a:schemeClr val="accent1"/>
          </a:lnRef>
          <a:fillRef idx="0">
            <a:schemeClr val="accent1"/>
          </a:fillRef>
          <a:effectRef idx="1">
            <a:schemeClr val="accent1"/>
          </a:effectRef>
          <a:fontRef idx="minor">
            <a:schemeClr val="tx1"/>
          </a:fontRef>
        </p:style>
      </p:cxnSp>
      <p:pic>
        <p:nvPicPr>
          <p:cNvPr id="39" name="Picture 38" descr="logo.png"/>
          <p:cNvPicPr>
            <a:picLocks noChangeAspect="1"/>
          </p:cNvPicPr>
          <p:nvPr/>
        </p:nvPicPr>
        <p:blipFill>
          <a:blip r:embed="rId5"/>
          <a:stretch>
            <a:fillRect/>
          </a:stretch>
        </p:blipFill>
        <p:spPr>
          <a:xfrm>
            <a:off x="640080" y="6446520"/>
            <a:ext cx="292608" cy="292608"/>
          </a:xfrm>
          <a:prstGeom prst="rect">
            <a:avLst/>
          </a:prstGeom>
        </p:spPr>
      </p:pic>
      <p:sp>
        <p:nvSpPr>
          <p:cNvPr id="40" name="TextBox 39"/>
          <p:cNvSpPr txBox="1"/>
          <p:nvPr/>
        </p:nvSpPr>
        <p:spPr>
          <a:xfrm>
            <a:off x="1024128" y="6464808"/>
            <a:ext cx="7772400" cy="274320"/>
          </a:xfrm>
          <a:prstGeom prst="rect">
            <a:avLst/>
          </a:prstGeom>
          <a:noFill/>
        </p:spPr>
        <p:txBody>
          <a:bodyPr wrap="square" lIns="0" rIns="0" tIns="0" bIns="0" anchor="ctr">
            <a:spAutoFit/>
          </a:bodyPr>
          <a:lstStyle/>
          <a:p>
            <a:pPr algn="l">
              <a:lnSpc>
                <a:spcPct val="110000"/>
              </a:lnSpc>
              <a:spcAft>
                <a:spcPts val="0"/>
              </a:spcAft>
            </a:pPr>
            <a:r>
              <a:rPr sz="1400" b="1">
                <a:solidFill>
                  <a:srgbClr val="B4C1D2"/>
                </a:solidFill>
                <a:latin typeface="Inter"/>
                <a:ea typeface="Inter"/>
                <a:cs typeface="Inter"/>
              </a:rPr>
              <a:t>Capzoryx Copilot</a:t>
            </a:r>
            <a:r>
              <a:rPr sz="1400" b="0">
                <a:solidFill>
                  <a:srgbClr val="8FA0B5"/>
                </a:solidFill>
                <a:latin typeface="Inter"/>
                <a:ea typeface="Inter"/>
                <a:cs typeface="Inter"/>
              </a:rPr>
              <a:t>  ·  2026 Shenzhen International FinTechathon  ·  Topic E</a:t>
            </a:r>
          </a:p>
        </p:txBody>
      </p:sp>
      <p:sp>
        <p:nvSpPr>
          <p:cNvPr id="41" name="TextBox 40"/>
          <p:cNvSpPr txBox="1"/>
          <p:nvPr/>
        </p:nvSpPr>
        <p:spPr>
          <a:xfrm>
            <a:off x="9722815" y="6464808"/>
            <a:ext cx="1828800" cy="274320"/>
          </a:xfrm>
          <a:prstGeom prst="rect">
            <a:avLst/>
          </a:prstGeom>
          <a:noFill/>
        </p:spPr>
        <p:txBody>
          <a:bodyPr wrap="square" lIns="0" rIns="0" tIns="0" bIns="0" anchor="ctr">
            <a:spAutoFit/>
          </a:bodyPr>
          <a:lstStyle/>
          <a:p>
            <a:pPr algn="r">
              <a:lnSpc>
                <a:spcPct val="110000"/>
              </a:lnSpc>
              <a:spcAft>
                <a:spcPts val="0"/>
              </a:spcAft>
            </a:pPr>
            <a:r>
              <a:rPr sz="1400" b="1">
                <a:solidFill>
                  <a:srgbClr val="B4C1D2"/>
                </a:solidFill>
                <a:latin typeface="Inter"/>
                <a:ea typeface="Inter"/>
                <a:cs typeface="Inter"/>
              </a:rPr>
              <a:t>08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lIns="0" rIns="0" tIns="0" bIns="0" anchor="t">
            <a:spAutoFit/>
          </a:bodyPr>
          <a:lstStyle/>
          <a:p>
            <a:pPr algn="l">
              <a:lnSpc>
                <a:spcPct val="110000"/>
              </a:lnSpc>
              <a:spcAft>
                <a:spcPts val="0"/>
              </a:spcAft>
            </a:pPr>
            <a:r>
              <a:rPr sz="1400" b="1" spc="200">
                <a:solidFill>
                  <a:srgbClr val="3BE3C1"/>
                </a:solidFill>
                <a:latin typeface="Inter"/>
                <a:ea typeface="Inter"/>
                <a:cs typeface="Inter"/>
              </a:rPr>
              <a:t>07 / BUILT FOR REAL USE</a:t>
            </a:r>
          </a:p>
        </p:txBody>
      </p:sp>
      <p:sp>
        <p:nvSpPr>
          <p:cNvPr id="3" name="TextBox 2"/>
          <p:cNvSpPr txBox="1"/>
          <p:nvPr/>
        </p:nvSpPr>
        <p:spPr>
          <a:xfrm>
            <a:off x="640080" y="713232"/>
            <a:ext cx="10881360" cy="731520"/>
          </a:xfrm>
          <a:prstGeom prst="rect">
            <a:avLst/>
          </a:prstGeom>
          <a:noFill/>
        </p:spPr>
        <p:txBody>
          <a:bodyPr wrap="square" lIns="0" rIns="0" tIns="0" bIns="0" anchor="t">
            <a:spAutoFit/>
          </a:bodyPr>
          <a:lstStyle/>
          <a:p>
            <a:pPr algn="l">
              <a:lnSpc>
                <a:spcPct val="100000"/>
              </a:lnSpc>
              <a:spcAft>
                <a:spcPts val="0"/>
              </a:spcAft>
            </a:pPr>
            <a:r>
              <a:rPr sz="3600" b="1">
                <a:solidFill>
                  <a:srgbClr val="FFFFFF"/>
                </a:solidFill>
                <a:latin typeface="Inter"/>
                <a:ea typeface="Inter"/>
                <a:cs typeface="Inter"/>
              </a:rPr>
              <a:t>Built for real use, not just a demo.</a:t>
            </a:r>
          </a:p>
        </p:txBody>
      </p:sp>
      <p:sp>
        <p:nvSpPr>
          <p:cNvPr id="4" name="Rounded Rectangle 3"/>
          <p:cNvSpPr/>
          <p:nvPr/>
        </p:nvSpPr>
        <p:spPr>
          <a:xfrm>
            <a:off x="640080" y="1600200"/>
            <a:ext cx="2880360" cy="1371600"/>
          </a:xfrm>
          <a:prstGeom prst="roundRect">
            <a:avLst>
              <a:gd name="adj" fmla="val 9333"/>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41247" y="1856232"/>
            <a:ext cx="73152" cy="347472"/>
          </a:xfrm>
          <a:prstGeom prst="roundRect">
            <a:avLst>
              <a:gd name="adj" fmla="val 50000"/>
            </a:avLst>
          </a:prstGeom>
          <a:solidFill>
            <a:srgbClr val="3BE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783080"/>
            <a:ext cx="2377440" cy="457200"/>
          </a:xfrm>
          <a:prstGeom prst="rect">
            <a:avLst/>
          </a:prstGeom>
          <a:noFill/>
        </p:spPr>
        <p:txBody>
          <a:bodyPr wrap="square" lIns="0" rIns="0" tIns="0" bIns="0" anchor="t">
            <a:spAutoFit/>
          </a:bodyPr>
          <a:lstStyle/>
          <a:p>
            <a:pPr algn="l">
              <a:lnSpc>
                <a:spcPct val="110000"/>
              </a:lnSpc>
              <a:spcAft>
                <a:spcPts val="0"/>
              </a:spcAft>
            </a:pPr>
            <a:r>
              <a:rPr sz="2000" b="1">
                <a:solidFill>
                  <a:srgbClr val="FFFFFF"/>
                </a:solidFill>
                <a:latin typeface="Inter"/>
                <a:ea typeface="Inter"/>
                <a:cs typeface="Inter"/>
              </a:rPr>
              <a:t>Accounts</a:t>
            </a:r>
          </a:p>
        </p:txBody>
      </p:sp>
      <p:sp>
        <p:nvSpPr>
          <p:cNvPr id="7" name="TextBox 6"/>
          <p:cNvSpPr txBox="1"/>
          <p:nvPr/>
        </p:nvSpPr>
        <p:spPr>
          <a:xfrm>
            <a:off x="868680" y="2313432"/>
            <a:ext cx="2514600" cy="640080"/>
          </a:xfrm>
          <a:prstGeom prst="rect">
            <a:avLst/>
          </a:prstGeom>
          <a:noFill/>
        </p:spPr>
        <p:txBody>
          <a:bodyPr wrap="square" lIns="0" rIns="0" tIns="0" bIns="0" anchor="t">
            <a:spAutoFit/>
          </a:bodyPr>
          <a:lstStyle/>
          <a:p>
            <a:pPr algn="l">
              <a:lnSpc>
                <a:spcPct val="108000"/>
              </a:lnSpc>
              <a:spcAft>
                <a:spcPts val="0"/>
              </a:spcAft>
            </a:pPr>
            <a:r>
              <a:rPr sz="1600" b="0">
                <a:solidFill>
                  <a:srgbClr val="B4C1D2"/>
                </a:solidFill>
                <a:latin typeface="Inter"/>
                <a:ea typeface="Inter"/>
                <a:cs typeface="Inter"/>
              </a:rPr>
              <a:t>Two-step sign-in with an authenticator app</a:t>
            </a:r>
          </a:p>
        </p:txBody>
      </p:sp>
      <p:sp>
        <p:nvSpPr>
          <p:cNvPr id="8" name="Rounded Rectangle 7"/>
          <p:cNvSpPr/>
          <p:nvPr/>
        </p:nvSpPr>
        <p:spPr>
          <a:xfrm>
            <a:off x="3657600" y="1600200"/>
            <a:ext cx="2880360" cy="1371600"/>
          </a:xfrm>
          <a:prstGeom prst="roundRect">
            <a:avLst>
              <a:gd name="adj" fmla="val 9333"/>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858768" y="1856232"/>
            <a:ext cx="73152" cy="347472"/>
          </a:xfrm>
          <a:prstGeom prst="roundRect">
            <a:avLst>
              <a:gd name="adj" fmla="val 50000"/>
            </a:avLst>
          </a:prstGeom>
          <a:solidFill>
            <a:srgbClr val="6F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69080" y="1783080"/>
            <a:ext cx="2377440" cy="457200"/>
          </a:xfrm>
          <a:prstGeom prst="rect">
            <a:avLst/>
          </a:prstGeom>
          <a:noFill/>
        </p:spPr>
        <p:txBody>
          <a:bodyPr wrap="square" lIns="0" rIns="0" tIns="0" bIns="0" anchor="t">
            <a:spAutoFit/>
          </a:bodyPr>
          <a:lstStyle/>
          <a:p>
            <a:pPr algn="l">
              <a:lnSpc>
                <a:spcPct val="110000"/>
              </a:lnSpc>
              <a:spcAft>
                <a:spcPts val="0"/>
              </a:spcAft>
            </a:pPr>
            <a:r>
              <a:rPr sz="2000" b="1">
                <a:solidFill>
                  <a:srgbClr val="FFFFFF"/>
                </a:solidFill>
                <a:latin typeface="Inter"/>
                <a:ea typeface="Inter"/>
                <a:cs typeface="Inter"/>
              </a:rPr>
              <a:t>Sharing with roles</a:t>
            </a:r>
          </a:p>
        </p:txBody>
      </p:sp>
      <p:sp>
        <p:nvSpPr>
          <p:cNvPr id="11" name="TextBox 10"/>
          <p:cNvSpPr txBox="1"/>
          <p:nvPr/>
        </p:nvSpPr>
        <p:spPr>
          <a:xfrm>
            <a:off x="3886200" y="2313432"/>
            <a:ext cx="2514600" cy="640080"/>
          </a:xfrm>
          <a:prstGeom prst="rect">
            <a:avLst/>
          </a:prstGeom>
          <a:noFill/>
        </p:spPr>
        <p:txBody>
          <a:bodyPr wrap="square" lIns="0" rIns="0" tIns="0" bIns="0" anchor="t">
            <a:spAutoFit/>
          </a:bodyPr>
          <a:lstStyle/>
          <a:p>
            <a:pPr algn="l">
              <a:lnSpc>
                <a:spcPct val="108000"/>
              </a:lnSpc>
              <a:spcAft>
                <a:spcPts val="0"/>
              </a:spcAft>
            </a:pPr>
            <a:r>
              <a:rPr sz="1600" b="0">
                <a:solidFill>
                  <a:srgbClr val="B4C1D2"/>
                </a:solidFill>
                <a:latin typeface="Inter"/>
                <a:ea typeface="Inter"/>
                <a:cs typeface="Inter"/>
              </a:rPr>
              <a:t>Approver or viewer, by invitation link</a:t>
            </a:r>
          </a:p>
        </p:txBody>
      </p:sp>
      <p:sp>
        <p:nvSpPr>
          <p:cNvPr id="12" name="Rounded Rectangle 11"/>
          <p:cNvSpPr/>
          <p:nvPr/>
        </p:nvSpPr>
        <p:spPr>
          <a:xfrm>
            <a:off x="640080" y="3154680"/>
            <a:ext cx="2880360" cy="1371600"/>
          </a:xfrm>
          <a:prstGeom prst="roundRect">
            <a:avLst>
              <a:gd name="adj" fmla="val 9333"/>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41247" y="3410712"/>
            <a:ext cx="73152" cy="347472"/>
          </a:xfrm>
          <a:prstGeom prst="roundRect">
            <a:avLst>
              <a:gd name="adj" fmla="val 50000"/>
            </a:avLst>
          </a:prstGeom>
          <a:solidFill>
            <a:srgbClr val="C7F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337560"/>
            <a:ext cx="2377440" cy="457200"/>
          </a:xfrm>
          <a:prstGeom prst="rect">
            <a:avLst/>
          </a:prstGeom>
          <a:noFill/>
        </p:spPr>
        <p:txBody>
          <a:bodyPr wrap="square" lIns="0" rIns="0" tIns="0" bIns="0" anchor="t">
            <a:spAutoFit/>
          </a:bodyPr>
          <a:lstStyle/>
          <a:p>
            <a:pPr algn="l">
              <a:lnSpc>
                <a:spcPct val="110000"/>
              </a:lnSpc>
              <a:spcAft>
                <a:spcPts val="0"/>
              </a:spcAft>
            </a:pPr>
            <a:r>
              <a:rPr sz="2000" b="1">
                <a:solidFill>
                  <a:srgbClr val="FFFFFF"/>
                </a:solidFill>
                <a:latin typeface="Inter"/>
                <a:ea typeface="Inter"/>
                <a:cs typeface="Inter"/>
              </a:rPr>
              <a:t>37 languages</a:t>
            </a:r>
          </a:p>
        </p:txBody>
      </p:sp>
      <p:sp>
        <p:nvSpPr>
          <p:cNvPr id="15" name="TextBox 14"/>
          <p:cNvSpPr txBox="1"/>
          <p:nvPr/>
        </p:nvSpPr>
        <p:spPr>
          <a:xfrm>
            <a:off x="868680" y="3867912"/>
            <a:ext cx="2514600" cy="640080"/>
          </a:xfrm>
          <a:prstGeom prst="rect">
            <a:avLst/>
          </a:prstGeom>
          <a:noFill/>
        </p:spPr>
        <p:txBody>
          <a:bodyPr wrap="square" lIns="0" rIns="0" tIns="0" bIns="0" anchor="t">
            <a:spAutoFit/>
          </a:bodyPr>
          <a:lstStyle/>
          <a:p>
            <a:pPr algn="l">
              <a:lnSpc>
                <a:spcPct val="108000"/>
              </a:lnSpc>
              <a:spcAft>
                <a:spcPts val="0"/>
              </a:spcAft>
            </a:pPr>
            <a:r>
              <a:rPr sz="1600" b="0">
                <a:solidFill>
                  <a:srgbClr val="B4C1D2"/>
                </a:solidFill>
                <a:latin typeface="Inter"/>
                <a:ea typeface="Inter"/>
                <a:cs typeface="Inter"/>
              </a:rPr>
              <a:t>Right-to-left layouts included</a:t>
            </a:r>
          </a:p>
        </p:txBody>
      </p:sp>
      <p:sp>
        <p:nvSpPr>
          <p:cNvPr id="16" name="Rounded Rectangle 15"/>
          <p:cNvSpPr/>
          <p:nvPr/>
        </p:nvSpPr>
        <p:spPr>
          <a:xfrm>
            <a:off x="3657600" y="3154680"/>
            <a:ext cx="2880360" cy="1371600"/>
          </a:xfrm>
          <a:prstGeom prst="roundRect">
            <a:avLst>
              <a:gd name="adj" fmla="val 9333"/>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858768" y="3410712"/>
            <a:ext cx="73152" cy="347472"/>
          </a:xfrm>
          <a:prstGeom prst="roundRect">
            <a:avLst>
              <a:gd name="adj" fmla="val 50000"/>
            </a:avLst>
          </a:prstGeom>
          <a:solidFill>
            <a:srgbClr val="F5B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69080" y="3337560"/>
            <a:ext cx="2377440" cy="457200"/>
          </a:xfrm>
          <a:prstGeom prst="rect">
            <a:avLst/>
          </a:prstGeom>
          <a:noFill/>
        </p:spPr>
        <p:txBody>
          <a:bodyPr wrap="square" lIns="0" rIns="0" tIns="0" bIns="0" anchor="t">
            <a:spAutoFit/>
          </a:bodyPr>
          <a:lstStyle/>
          <a:p>
            <a:pPr algn="l">
              <a:lnSpc>
                <a:spcPct val="110000"/>
              </a:lnSpc>
              <a:spcAft>
                <a:spcPts val="0"/>
              </a:spcAft>
            </a:pPr>
            <a:r>
              <a:rPr sz="2000" b="1">
                <a:solidFill>
                  <a:srgbClr val="FFFFFF"/>
                </a:solidFill>
                <a:latin typeface="Inter"/>
                <a:ea typeface="Inter"/>
                <a:cs typeface="Inter"/>
              </a:rPr>
              <a:t>Photo, chat, form</a:t>
            </a:r>
          </a:p>
        </p:txBody>
      </p:sp>
      <p:sp>
        <p:nvSpPr>
          <p:cNvPr id="19" name="TextBox 18"/>
          <p:cNvSpPr txBox="1"/>
          <p:nvPr/>
        </p:nvSpPr>
        <p:spPr>
          <a:xfrm>
            <a:off x="3886200" y="3867912"/>
            <a:ext cx="2514600" cy="640080"/>
          </a:xfrm>
          <a:prstGeom prst="rect">
            <a:avLst/>
          </a:prstGeom>
          <a:noFill/>
        </p:spPr>
        <p:txBody>
          <a:bodyPr wrap="square" lIns="0" rIns="0" tIns="0" bIns="0" anchor="t">
            <a:spAutoFit/>
          </a:bodyPr>
          <a:lstStyle/>
          <a:p>
            <a:pPr algn="l">
              <a:lnSpc>
                <a:spcPct val="108000"/>
              </a:lnSpc>
              <a:spcAft>
                <a:spcPts val="0"/>
              </a:spcAft>
            </a:pPr>
            <a:r>
              <a:rPr sz="1600" b="0">
                <a:solidFill>
                  <a:srgbClr val="B4C1D2"/>
                </a:solidFill>
                <a:latin typeface="Inter"/>
                <a:ea typeface="Inter"/>
                <a:cs typeface="Inter"/>
              </a:rPr>
              <a:t>Every draft is checked by you</a:t>
            </a:r>
          </a:p>
        </p:txBody>
      </p:sp>
      <p:sp>
        <p:nvSpPr>
          <p:cNvPr id="20" name="Rounded Rectangle 19"/>
          <p:cNvSpPr/>
          <p:nvPr/>
        </p:nvSpPr>
        <p:spPr>
          <a:xfrm>
            <a:off x="640080" y="4709160"/>
            <a:ext cx="2880360" cy="1371600"/>
          </a:xfrm>
          <a:prstGeom prst="roundRect">
            <a:avLst>
              <a:gd name="adj" fmla="val 9333"/>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41247" y="4965192"/>
            <a:ext cx="73152" cy="347472"/>
          </a:xfrm>
          <a:prstGeom prst="roundRect">
            <a:avLst>
              <a:gd name="adj" fmla="val 50000"/>
            </a:avLst>
          </a:prstGeom>
          <a:solidFill>
            <a:srgbClr val="3BE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4892040"/>
            <a:ext cx="2377440" cy="457200"/>
          </a:xfrm>
          <a:prstGeom prst="rect">
            <a:avLst/>
          </a:prstGeom>
          <a:noFill/>
        </p:spPr>
        <p:txBody>
          <a:bodyPr wrap="square" lIns="0" rIns="0" tIns="0" bIns="0" anchor="t">
            <a:spAutoFit/>
          </a:bodyPr>
          <a:lstStyle/>
          <a:p>
            <a:pPr algn="l">
              <a:lnSpc>
                <a:spcPct val="110000"/>
              </a:lnSpc>
              <a:spcAft>
                <a:spcPts val="0"/>
              </a:spcAft>
            </a:pPr>
            <a:r>
              <a:rPr sz="2000" b="1">
                <a:solidFill>
                  <a:srgbClr val="FFFFFF"/>
                </a:solidFill>
                <a:latin typeface="Inter"/>
                <a:ea typeface="Inter"/>
                <a:cs typeface="Inter"/>
              </a:rPr>
              <a:t>PDF report</a:t>
            </a:r>
          </a:p>
        </p:txBody>
      </p:sp>
      <p:sp>
        <p:nvSpPr>
          <p:cNvPr id="23" name="TextBox 22"/>
          <p:cNvSpPr txBox="1"/>
          <p:nvPr/>
        </p:nvSpPr>
        <p:spPr>
          <a:xfrm>
            <a:off x="868680" y="5422392"/>
            <a:ext cx="2514600" cy="640080"/>
          </a:xfrm>
          <a:prstGeom prst="rect">
            <a:avLst/>
          </a:prstGeom>
          <a:noFill/>
        </p:spPr>
        <p:txBody>
          <a:bodyPr wrap="square" lIns="0" rIns="0" tIns="0" bIns="0" anchor="t">
            <a:spAutoFit/>
          </a:bodyPr>
          <a:lstStyle/>
          <a:p>
            <a:pPr algn="l">
              <a:lnSpc>
                <a:spcPct val="108000"/>
              </a:lnSpc>
              <a:spcAft>
                <a:spcPts val="0"/>
              </a:spcAft>
            </a:pPr>
            <a:r>
              <a:rPr sz="1600" b="0">
                <a:solidFill>
                  <a:srgbClr val="B4C1D2"/>
                </a:solidFill>
                <a:latin typeface="Inter"/>
                <a:ea typeface="Inter"/>
                <a:cs typeface="Inter"/>
              </a:rPr>
              <a:t>Plus a full backup file</a:t>
            </a:r>
          </a:p>
        </p:txBody>
      </p:sp>
      <p:sp>
        <p:nvSpPr>
          <p:cNvPr id="24" name="Rounded Rectangle 23"/>
          <p:cNvSpPr/>
          <p:nvPr/>
        </p:nvSpPr>
        <p:spPr>
          <a:xfrm>
            <a:off x="3657600" y="4709160"/>
            <a:ext cx="2880360" cy="1371600"/>
          </a:xfrm>
          <a:prstGeom prst="roundRect">
            <a:avLst>
              <a:gd name="adj" fmla="val 9333"/>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858768" y="4965192"/>
            <a:ext cx="73152" cy="347472"/>
          </a:xfrm>
          <a:prstGeom prst="roundRect">
            <a:avLst>
              <a:gd name="adj" fmla="val 50000"/>
            </a:avLst>
          </a:prstGeom>
          <a:solidFill>
            <a:srgbClr val="6F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69080" y="4892040"/>
            <a:ext cx="2377440" cy="457200"/>
          </a:xfrm>
          <a:prstGeom prst="rect">
            <a:avLst/>
          </a:prstGeom>
          <a:noFill/>
        </p:spPr>
        <p:txBody>
          <a:bodyPr wrap="square" lIns="0" rIns="0" tIns="0" bIns="0" anchor="t">
            <a:spAutoFit/>
          </a:bodyPr>
          <a:lstStyle/>
          <a:p>
            <a:pPr algn="l">
              <a:lnSpc>
                <a:spcPct val="110000"/>
              </a:lnSpc>
              <a:spcAft>
                <a:spcPts val="0"/>
              </a:spcAft>
            </a:pPr>
            <a:r>
              <a:rPr sz="2000" b="1">
                <a:solidFill>
                  <a:srgbClr val="FFFFFF"/>
                </a:solidFill>
                <a:latin typeface="Inter"/>
                <a:ea typeface="Inter"/>
                <a:cs typeface="Inter"/>
              </a:rPr>
              <a:t>150+ currencies</a:t>
            </a:r>
          </a:p>
        </p:txBody>
      </p:sp>
      <p:sp>
        <p:nvSpPr>
          <p:cNvPr id="27" name="TextBox 26"/>
          <p:cNvSpPr txBox="1"/>
          <p:nvPr/>
        </p:nvSpPr>
        <p:spPr>
          <a:xfrm>
            <a:off x="3886200" y="5422392"/>
            <a:ext cx="2514600" cy="640080"/>
          </a:xfrm>
          <a:prstGeom prst="rect">
            <a:avLst/>
          </a:prstGeom>
          <a:noFill/>
        </p:spPr>
        <p:txBody>
          <a:bodyPr wrap="square" lIns="0" rIns="0" tIns="0" bIns="0" anchor="t">
            <a:spAutoFit/>
          </a:bodyPr>
          <a:lstStyle/>
          <a:p>
            <a:pPr algn="l">
              <a:lnSpc>
                <a:spcPct val="108000"/>
              </a:lnSpc>
              <a:spcAft>
                <a:spcPts val="0"/>
              </a:spcAft>
            </a:pPr>
            <a:r>
              <a:rPr sz="1600" b="0">
                <a:solidFill>
                  <a:srgbClr val="B4C1D2"/>
                </a:solidFill>
                <a:latin typeface="Inter"/>
                <a:ea typeface="Inter"/>
                <a:cs typeface="Inter"/>
              </a:rPr>
              <a:t>Live conversion on the overview</a:t>
            </a:r>
          </a:p>
        </p:txBody>
      </p:sp>
      <p:pic>
        <p:nvPicPr>
          <p:cNvPr id="28" name="Picture 27" descr="The Overview screen in Simplified Chinese"/>
          <p:cNvPicPr>
            <a:picLocks noChangeAspect="1"/>
          </p:cNvPicPr>
          <p:nvPr/>
        </p:nvPicPr>
        <p:blipFill>
          <a:blip r:embed="rId3"/>
          <a:stretch>
            <a:fillRect/>
          </a:stretch>
        </p:blipFill>
        <p:spPr>
          <a:xfrm>
            <a:off x="6693407" y="1344168"/>
            <a:ext cx="3529584" cy="2279904"/>
          </a:xfrm>
          <a:prstGeom prst="rect">
            <a:avLst/>
          </a:prstGeom>
        </p:spPr>
      </p:pic>
      <p:sp>
        <p:nvSpPr>
          <p:cNvPr id="29" name="TextBox 28"/>
          <p:cNvSpPr txBox="1"/>
          <p:nvPr/>
        </p:nvSpPr>
        <p:spPr>
          <a:xfrm>
            <a:off x="6949440" y="3459480"/>
            <a:ext cx="3017520" cy="274320"/>
          </a:xfrm>
          <a:prstGeom prst="rect">
            <a:avLst/>
          </a:prstGeom>
          <a:noFill/>
        </p:spPr>
        <p:txBody>
          <a:bodyPr wrap="square" lIns="0" rIns="0" tIns="0" bIns="0" anchor="t">
            <a:spAutoFit/>
          </a:bodyPr>
          <a:lstStyle/>
          <a:p>
            <a:pPr algn="l">
              <a:lnSpc>
                <a:spcPct val="110000"/>
              </a:lnSpc>
              <a:spcAft>
                <a:spcPts val="0"/>
              </a:spcAft>
            </a:pPr>
            <a:r>
              <a:rPr sz="1400" b="0">
                <a:solidFill>
                  <a:srgbClr val="8FA0B5"/>
                </a:solidFill>
                <a:latin typeface="Inter"/>
                <a:ea typeface="Inter"/>
                <a:cs typeface="Inter"/>
              </a:rPr>
              <a:t>简体中文</a:t>
            </a:r>
          </a:p>
        </p:txBody>
      </p:sp>
      <p:pic>
        <p:nvPicPr>
          <p:cNvPr id="30" name="Picture 29" descr="The Overview screen in Arabic, laid out right to left"/>
          <p:cNvPicPr>
            <a:picLocks noChangeAspect="1"/>
          </p:cNvPicPr>
          <p:nvPr/>
        </p:nvPicPr>
        <p:blipFill>
          <a:blip r:embed="rId4"/>
          <a:stretch>
            <a:fillRect/>
          </a:stretch>
        </p:blipFill>
        <p:spPr>
          <a:xfrm>
            <a:off x="6693407" y="3721607"/>
            <a:ext cx="3529584" cy="2279904"/>
          </a:xfrm>
          <a:prstGeom prst="rect">
            <a:avLst/>
          </a:prstGeom>
        </p:spPr>
      </p:pic>
      <p:sp>
        <p:nvSpPr>
          <p:cNvPr id="31" name="TextBox 30"/>
          <p:cNvSpPr txBox="1"/>
          <p:nvPr/>
        </p:nvSpPr>
        <p:spPr>
          <a:xfrm>
            <a:off x="6949440" y="5836920"/>
            <a:ext cx="3017520" cy="274320"/>
          </a:xfrm>
          <a:prstGeom prst="rect">
            <a:avLst/>
          </a:prstGeom>
          <a:noFill/>
        </p:spPr>
        <p:txBody>
          <a:bodyPr wrap="square" lIns="0" rIns="0" tIns="0" bIns="0" anchor="t">
            <a:spAutoFit/>
          </a:bodyPr>
          <a:lstStyle/>
          <a:p>
            <a:pPr algn="l">
              <a:lnSpc>
                <a:spcPct val="110000"/>
              </a:lnSpc>
              <a:spcAft>
                <a:spcPts val="0"/>
              </a:spcAft>
            </a:pPr>
            <a:r>
              <a:rPr sz="1400" b="0">
                <a:solidFill>
                  <a:srgbClr val="8FA0B5"/>
                </a:solidFill>
                <a:latin typeface="Inter"/>
                <a:ea typeface="Inter"/>
                <a:cs typeface="Inter"/>
              </a:rPr>
              <a:t>العربية · right to left</a:t>
            </a:r>
          </a:p>
        </p:txBody>
      </p:sp>
      <p:pic>
        <p:nvPicPr>
          <p:cNvPr id="32" name="Picture 31" descr="The Overview on a phone-size screen"/>
          <p:cNvPicPr>
            <a:picLocks noChangeAspect="1"/>
          </p:cNvPicPr>
          <p:nvPr/>
        </p:nvPicPr>
        <p:blipFill>
          <a:blip r:embed="rId5"/>
          <a:stretch>
            <a:fillRect/>
          </a:stretch>
        </p:blipFill>
        <p:spPr>
          <a:xfrm>
            <a:off x="9802368" y="1344168"/>
            <a:ext cx="2020824" cy="3773424"/>
          </a:xfrm>
          <a:prstGeom prst="rect">
            <a:avLst/>
          </a:prstGeom>
        </p:spPr>
      </p:pic>
      <p:sp>
        <p:nvSpPr>
          <p:cNvPr id="33" name="TextBox 32"/>
          <p:cNvSpPr txBox="1"/>
          <p:nvPr/>
        </p:nvSpPr>
        <p:spPr>
          <a:xfrm>
            <a:off x="10058400" y="4952999"/>
            <a:ext cx="1554480" cy="274320"/>
          </a:xfrm>
          <a:prstGeom prst="rect">
            <a:avLst/>
          </a:prstGeom>
          <a:noFill/>
        </p:spPr>
        <p:txBody>
          <a:bodyPr wrap="square" lIns="0" rIns="0" tIns="0" bIns="0" anchor="t">
            <a:spAutoFit/>
          </a:bodyPr>
          <a:lstStyle/>
          <a:p>
            <a:pPr algn="l">
              <a:lnSpc>
                <a:spcPct val="110000"/>
              </a:lnSpc>
              <a:spcAft>
                <a:spcPts val="0"/>
              </a:spcAft>
            </a:pPr>
            <a:r>
              <a:rPr sz="1400" b="0">
                <a:solidFill>
                  <a:srgbClr val="8FA0B5"/>
                </a:solidFill>
                <a:latin typeface="Inter"/>
                <a:ea typeface="Inter"/>
                <a:cs typeface="Inter"/>
              </a:rPr>
              <a:t>Phone</a:t>
            </a:r>
          </a:p>
        </p:txBody>
      </p:sp>
      <p:cxnSp>
        <p:nvCxnSpPr>
          <p:cNvPr id="34" name="Connector 33"/>
          <p:cNvCxnSpPr/>
          <p:nvPr/>
        </p:nvCxnSpPr>
        <p:spPr>
          <a:xfrm>
            <a:off x="640080" y="6382512"/>
            <a:ext cx="10911535" cy="0"/>
          </a:xfrm>
          <a:prstGeom prst="line">
            <a:avLst/>
          </a:prstGeom>
          <a:ln>
            <a:solidFill>
              <a:srgbClr val="2A3F5C"/>
            </a:solidFill>
          </a:ln>
        </p:spPr>
        <p:style>
          <a:lnRef idx="2">
            <a:schemeClr val="accent1"/>
          </a:lnRef>
          <a:fillRef idx="0">
            <a:schemeClr val="accent1"/>
          </a:fillRef>
          <a:effectRef idx="1">
            <a:schemeClr val="accent1"/>
          </a:effectRef>
          <a:fontRef idx="minor">
            <a:schemeClr val="tx1"/>
          </a:fontRef>
        </p:style>
      </p:cxnSp>
      <p:pic>
        <p:nvPicPr>
          <p:cNvPr id="35" name="Picture 34" descr="logo.png"/>
          <p:cNvPicPr>
            <a:picLocks noChangeAspect="1"/>
          </p:cNvPicPr>
          <p:nvPr/>
        </p:nvPicPr>
        <p:blipFill>
          <a:blip r:embed="rId6"/>
          <a:stretch>
            <a:fillRect/>
          </a:stretch>
        </p:blipFill>
        <p:spPr>
          <a:xfrm>
            <a:off x="640080" y="6446520"/>
            <a:ext cx="292608" cy="292608"/>
          </a:xfrm>
          <a:prstGeom prst="rect">
            <a:avLst/>
          </a:prstGeom>
        </p:spPr>
      </p:pic>
      <p:sp>
        <p:nvSpPr>
          <p:cNvPr id="36" name="TextBox 35"/>
          <p:cNvSpPr txBox="1"/>
          <p:nvPr/>
        </p:nvSpPr>
        <p:spPr>
          <a:xfrm>
            <a:off x="1024128" y="6464808"/>
            <a:ext cx="7772400" cy="274320"/>
          </a:xfrm>
          <a:prstGeom prst="rect">
            <a:avLst/>
          </a:prstGeom>
          <a:noFill/>
        </p:spPr>
        <p:txBody>
          <a:bodyPr wrap="square" lIns="0" rIns="0" tIns="0" bIns="0" anchor="ctr">
            <a:spAutoFit/>
          </a:bodyPr>
          <a:lstStyle/>
          <a:p>
            <a:pPr algn="l">
              <a:lnSpc>
                <a:spcPct val="110000"/>
              </a:lnSpc>
              <a:spcAft>
                <a:spcPts val="0"/>
              </a:spcAft>
            </a:pPr>
            <a:r>
              <a:rPr sz="1400" b="1">
                <a:solidFill>
                  <a:srgbClr val="B4C1D2"/>
                </a:solidFill>
                <a:latin typeface="Inter"/>
                <a:ea typeface="Inter"/>
                <a:cs typeface="Inter"/>
              </a:rPr>
              <a:t>Capzoryx Copilot</a:t>
            </a:r>
            <a:r>
              <a:rPr sz="1400" b="0">
                <a:solidFill>
                  <a:srgbClr val="8FA0B5"/>
                </a:solidFill>
                <a:latin typeface="Inter"/>
                <a:ea typeface="Inter"/>
                <a:cs typeface="Inter"/>
              </a:rPr>
              <a:t>  ·  2026 Shenzhen International FinTechathon  ·  Topic E</a:t>
            </a:r>
          </a:p>
        </p:txBody>
      </p:sp>
      <p:sp>
        <p:nvSpPr>
          <p:cNvPr id="37" name="TextBox 36"/>
          <p:cNvSpPr txBox="1"/>
          <p:nvPr/>
        </p:nvSpPr>
        <p:spPr>
          <a:xfrm>
            <a:off x="9722815" y="6464808"/>
            <a:ext cx="1828800" cy="274320"/>
          </a:xfrm>
          <a:prstGeom prst="rect">
            <a:avLst/>
          </a:prstGeom>
          <a:noFill/>
        </p:spPr>
        <p:txBody>
          <a:bodyPr wrap="square" lIns="0" rIns="0" tIns="0" bIns="0" anchor="ctr">
            <a:spAutoFit/>
          </a:bodyPr>
          <a:lstStyle/>
          <a:p>
            <a:pPr algn="r">
              <a:lnSpc>
                <a:spcPct val="110000"/>
              </a:lnSpc>
              <a:spcAft>
                <a:spcPts val="0"/>
              </a:spcAft>
            </a:pPr>
            <a:r>
              <a:rPr sz="1400" b="1">
                <a:solidFill>
                  <a:srgbClr val="B4C1D2"/>
                </a:solidFill>
                <a:latin typeface="Inter"/>
                <a:ea typeface="Inter"/>
                <a:cs typeface="Inter"/>
              </a:rPr>
              <a:t>09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lIns="0" rIns="0" tIns="0" bIns="0" anchor="t">
            <a:spAutoFit/>
          </a:bodyPr>
          <a:lstStyle/>
          <a:p>
            <a:pPr algn="l">
              <a:lnSpc>
                <a:spcPct val="110000"/>
              </a:lnSpc>
              <a:spcAft>
                <a:spcPts val="0"/>
              </a:spcAft>
            </a:pPr>
            <a:r>
              <a:rPr sz="1400" b="1" spc="200">
                <a:solidFill>
                  <a:srgbClr val="3BE3C1"/>
                </a:solidFill>
                <a:latin typeface="Inter"/>
                <a:ea typeface="Inter"/>
                <a:cs typeface="Inter"/>
              </a:rPr>
              <a:t>08 / LOCAL-FIRST INTELLIGENCE</a:t>
            </a:r>
          </a:p>
        </p:txBody>
      </p:sp>
      <p:sp>
        <p:nvSpPr>
          <p:cNvPr id="3" name="TextBox 2"/>
          <p:cNvSpPr txBox="1"/>
          <p:nvPr/>
        </p:nvSpPr>
        <p:spPr>
          <a:xfrm>
            <a:off x="640080" y="713232"/>
            <a:ext cx="10881360" cy="731520"/>
          </a:xfrm>
          <a:prstGeom prst="rect">
            <a:avLst/>
          </a:prstGeom>
          <a:noFill/>
        </p:spPr>
        <p:txBody>
          <a:bodyPr wrap="square" lIns="0" rIns="0" tIns="0" bIns="0" anchor="t">
            <a:spAutoFit/>
          </a:bodyPr>
          <a:lstStyle/>
          <a:p>
            <a:pPr algn="l">
              <a:lnSpc>
                <a:spcPct val="100000"/>
              </a:lnSpc>
              <a:spcAft>
                <a:spcPts val="0"/>
              </a:spcAft>
            </a:pPr>
            <a:r>
              <a:rPr sz="3600" b="1">
                <a:solidFill>
                  <a:srgbClr val="FFFFFF"/>
                </a:solidFill>
                <a:latin typeface="Inter"/>
                <a:ea typeface="Inter"/>
                <a:cs typeface="Inter"/>
              </a:rPr>
              <a:t>Intelligent assistance, with permission built in.</a:t>
            </a:r>
          </a:p>
        </p:txBody>
      </p:sp>
      <p:pic>
        <p:nvPicPr>
          <p:cNvPr id="4" name="Picture 3" descr="The Assistant answering a balance question and a loan question on the device"/>
          <p:cNvPicPr>
            <a:picLocks noChangeAspect="1"/>
          </p:cNvPicPr>
          <p:nvPr/>
        </p:nvPicPr>
        <p:blipFill>
          <a:blip r:embed="rId3"/>
          <a:stretch>
            <a:fillRect/>
          </a:stretch>
        </p:blipFill>
        <p:spPr>
          <a:xfrm>
            <a:off x="612647" y="1298448"/>
            <a:ext cx="6821424" cy="4684014"/>
          </a:xfrm>
          <a:prstGeom prst="rect">
            <a:avLst/>
          </a:prstGeom>
        </p:spPr>
      </p:pic>
      <p:sp>
        <p:nvSpPr>
          <p:cNvPr id="5" name="TextBox 4"/>
          <p:cNvSpPr txBox="1"/>
          <p:nvPr/>
        </p:nvSpPr>
        <p:spPr>
          <a:xfrm>
            <a:off x="868680" y="5909310"/>
            <a:ext cx="6309360" cy="274320"/>
          </a:xfrm>
          <a:prstGeom prst="rect">
            <a:avLst/>
          </a:prstGeom>
          <a:noFill/>
        </p:spPr>
        <p:txBody>
          <a:bodyPr wrap="square" lIns="0" rIns="0" tIns="0" bIns="0" anchor="t">
            <a:spAutoFit/>
          </a:bodyPr>
          <a:lstStyle/>
          <a:p>
            <a:pPr algn="l">
              <a:lnSpc>
                <a:spcPct val="110000"/>
              </a:lnSpc>
              <a:spcAft>
                <a:spcPts val="0"/>
              </a:spcAft>
            </a:pPr>
            <a:r>
              <a:rPr sz="1400" b="0">
                <a:solidFill>
                  <a:srgbClr val="8FA0B5"/>
                </a:solidFill>
                <a:latin typeface="Inter"/>
                <a:ea typeface="Inter"/>
                <a:cs typeface="Inter"/>
              </a:rPr>
              <a:t>“Answers on your device” · figures come from your own records.</a:t>
            </a:r>
          </a:p>
        </p:txBody>
      </p:sp>
      <p:sp>
        <p:nvSpPr>
          <p:cNvPr id="6" name="Rounded Rectangle 5"/>
          <p:cNvSpPr/>
          <p:nvPr/>
        </p:nvSpPr>
        <p:spPr>
          <a:xfrm>
            <a:off x="7680960" y="1600200"/>
            <a:ext cx="3867912" cy="1234440"/>
          </a:xfrm>
          <a:prstGeom prst="roundRect">
            <a:avLst>
              <a:gd name="adj" fmla="val 10370"/>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680960" y="1783080"/>
            <a:ext cx="82296" cy="868680"/>
          </a:xfrm>
          <a:prstGeom prst="roundRect">
            <a:avLst>
              <a:gd name="adj" fmla="val 44444"/>
            </a:avLst>
          </a:prstGeom>
          <a:solidFill>
            <a:srgbClr val="3BE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79" y="1728216"/>
            <a:ext cx="3474720" cy="365760"/>
          </a:xfrm>
          <a:prstGeom prst="rect">
            <a:avLst/>
          </a:prstGeom>
          <a:noFill/>
        </p:spPr>
        <p:txBody>
          <a:bodyPr wrap="square" lIns="0" rIns="0" tIns="0" bIns="0" anchor="t">
            <a:spAutoFit/>
          </a:bodyPr>
          <a:lstStyle/>
          <a:p>
            <a:pPr algn="l">
              <a:lnSpc>
                <a:spcPct val="110000"/>
              </a:lnSpc>
              <a:spcAft>
                <a:spcPts val="0"/>
              </a:spcAft>
            </a:pPr>
            <a:r>
              <a:rPr sz="1700" b="1">
                <a:solidFill>
                  <a:srgbClr val="3BE3C1"/>
                </a:solidFill>
                <a:latin typeface="Inter"/>
                <a:ea typeface="Inter"/>
                <a:cs typeface="Inter"/>
              </a:rPr>
              <a:t>LOCAL FIRST</a:t>
            </a:r>
          </a:p>
        </p:txBody>
      </p:sp>
      <p:sp>
        <p:nvSpPr>
          <p:cNvPr id="9" name="TextBox 8"/>
          <p:cNvSpPr txBox="1"/>
          <p:nvPr/>
        </p:nvSpPr>
        <p:spPr>
          <a:xfrm>
            <a:off x="7955279" y="2130552"/>
            <a:ext cx="3474720" cy="685800"/>
          </a:xfrm>
          <a:prstGeom prst="rect">
            <a:avLst/>
          </a:prstGeom>
          <a:noFill/>
        </p:spPr>
        <p:txBody>
          <a:bodyPr wrap="square" lIns="0" rIns="0" tIns="0" bIns="0" anchor="t">
            <a:spAutoFit/>
          </a:bodyPr>
          <a:lstStyle/>
          <a:p>
            <a:pPr algn="l">
              <a:lnSpc>
                <a:spcPct val="110000"/>
              </a:lnSpc>
              <a:spcAft>
                <a:spcPts val="0"/>
              </a:spcAft>
            </a:pPr>
            <a:r>
              <a:rPr sz="1600" b="0">
                <a:solidFill>
                  <a:srgbClr val="B4C1D2"/>
                </a:solidFill>
                <a:latin typeface="Inter"/>
                <a:ea typeface="Inter"/>
                <a:cs typeface="Inter"/>
              </a:rPr>
              <a:t>Balance, bills and how-to questions are answered on the device.</a:t>
            </a:r>
          </a:p>
        </p:txBody>
      </p:sp>
      <p:sp>
        <p:nvSpPr>
          <p:cNvPr id="10" name="Rounded Rectangle 9"/>
          <p:cNvSpPr/>
          <p:nvPr/>
        </p:nvSpPr>
        <p:spPr>
          <a:xfrm>
            <a:off x="7680960" y="3017520"/>
            <a:ext cx="3867912" cy="1234440"/>
          </a:xfrm>
          <a:prstGeom prst="roundRect">
            <a:avLst>
              <a:gd name="adj" fmla="val 10370"/>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680960" y="3200400"/>
            <a:ext cx="82296" cy="868680"/>
          </a:xfrm>
          <a:prstGeom prst="roundRect">
            <a:avLst>
              <a:gd name="adj" fmla="val 44444"/>
            </a:avLst>
          </a:prstGeom>
          <a:solidFill>
            <a:srgbClr val="6F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79" y="3145536"/>
            <a:ext cx="3474720" cy="365760"/>
          </a:xfrm>
          <a:prstGeom prst="rect">
            <a:avLst/>
          </a:prstGeom>
          <a:noFill/>
        </p:spPr>
        <p:txBody>
          <a:bodyPr wrap="square" lIns="0" rIns="0" tIns="0" bIns="0" anchor="t">
            <a:spAutoFit/>
          </a:bodyPr>
          <a:lstStyle/>
          <a:p>
            <a:pPr algn="l">
              <a:lnSpc>
                <a:spcPct val="110000"/>
              </a:lnSpc>
              <a:spcAft>
                <a:spcPts val="0"/>
              </a:spcAft>
            </a:pPr>
            <a:r>
              <a:rPr sz="1700" b="1">
                <a:solidFill>
                  <a:srgbClr val="6FB7FF"/>
                </a:solidFill>
                <a:latin typeface="Inter"/>
                <a:ea typeface="Inter"/>
                <a:cs typeface="Inter"/>
              </a:rPr>
              <a:t>CONSENT GATE</a:t>
            </a:r>
          </a:p>
        </p:txBody>
      </p:sp>
      <p:sp>
        <p:nvSpPr>
          <p:cNvPr id="13" name="TextBox 12"/>
          <p:cNvSpPr txBox="1"/>
          <p:nvPr/>
        </p:nvSpPr>
        <p:spPr>
          <a:xfrm>
            <a:off x="7955279" y="3547872"/>
            <a:ext cx="3474720" cy="685800"/>
          </a:xfrm>
          <a:prstGeom prst="rect">
            <a:avLst/>
          </a:prstGeom>
          <a:noFill/>
        </p:spPr>
        <p:txBody>
          <a:bodyPr wrap="square" lIns="0" rIns="0" tIns="0" bIns="0" anchor="t">
            <a:spAutoFit/>
          </a:bodyPr>
          <a:lstStyle/>
          <a:p>
            <a:pPr algn="l">
              <a:lnSpc>
                <a:spcPct val="110000"/>
              </a:lnSpc>
              <a:spcAft>
                <a:spcPts val="0"/>
              </a:spcAft>
            </a:pPr>
            <a:r>
              <a:rPr sz="1600" b="0">
                <a:solidFill>
                  <a:srgbClr val="B4C1D2"/>
                </a:solidFill>
                <a:latin typeface="Inter"/>
                <a:ea typeface="Inter"/>
                <a:cs typeface="Inter"/>
              </a:rPr>
              <a:t>Optional online help asks before anything is shared.</a:t>
            </a:r>
          </a:p>
        </p:txBody>
      </p:sp>
      <p:sp>
        <p:nvSpPr>
          <p:cNvPr id="14" name="Rounded Rectangle 13"/>
          <p:cNvSpPr/>
          <p:nvPr/>
        </p:nvSpPr>
        <p:spPr>
          <a:xfrm>
            <a:off x="7680960" y="4434840"/>
            <a:ext cx="3867912" cy="1234440"/>
          </a:xfrm>
          <a:prstGeom prst="roundRect">
            <a:avLst>
              <a:gd name="adj" fmla="val 10370"/>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680960" y="4617720"/>
            <a:ext cx="82296" cy="868680"/>
          </a:xfrm>
          <a:prstGeom prst="roundRect">
            <a:avLst>
              <a:gd name="adj" fmla="val 44444"/>
            </a:avLst>
          </a:prstGeom>
          <a:solidFill>
            <a:srgbClr val="C7F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79" y="4562855"/>
            <a:ext cx="3474720" cy="365760"/>
          </a:xfrm>
          <a:prstGeom prst="rect">
            <a:avLst/>
          </a:prstGeom>
          <a:noFill/>
        </p:spPr>
        <p:txBody>
          <a:bodyPr wrap="square" lIns="0" rIns="0" tIns="0" bIns="0" anchor="t">
            <a:spAutoFit/>
          </a:bodyPr>
          <a:lstStyle/>
          <a:p>
            <a:pPr algn="l">
              <a:lnSpc>
                <a:spcPct val="110000"/>
              </a:lnSpc>
              <a:spcAft>
                <a:spcPts val="0"/>
              </a:spcAft>
            </a:pPr>
            <a:r>
              <a:rPr sz="1700" b="1">
                <a:solidFill>
                  <a:srgbClr val="C7F36B"/>
                </a:solidFill>
                <a:latin typeface="Inter"/>
                <a:ea typeface="Inter"/>
                <a:cs typeface="Inter"/>
              </a:rPr>
              <a:t>OFF-TOPIC STAYS OFF</a:t>
            </a:r>
          </a:p>
        </p:txBody>
      </p:sp>
      <p:sp>
        <p:nvSpPr>
          <p:cNvPr id="17" name="TextBox 16"/>
          <p:cNvSpPr txBox="1"/>
          <p:nvPr/>
        </p:nvSpPr>
        <p:spPr>
          <a:xfrm>
            <a:off x="7955279" y="4965192"/>
            <a:ext cx="3474720" cy="685800"/>
          </a:xfrm>
          <a:prstGeom prst="rect">
            <a:avLst/>
          </a:prstGeom>
          <a:noFill/>
        </p:spPr>
        <p:txBody>
          <a:bodyPr wrap="square" lIns="0" rIns="0" tIns="0" bIns="0" anchor="t">
            <a:spAutoFit/>
          </a:bodyPr>
          <a:lstStyle/>
          <a:p>
            <a:pPr algn="l">
              <a:lnSpc>
                <a:spcPct val="110000"/>
              </a:lnSpc>
              <a:spcAft>
                <a:spcPts val="0"/>
              </a:spcAft>
            </a:pPr>
            <a:r>
              <a:rPr sz="1600" b="0">
                <a:solidFill>
                  <a:srgbClr val="B4C1D2"/>
                </a:solidFill>
                <a:latin typeface="Inter"/>
                <a:ea typeface="Inter"/>
                <a:cs typeface="Inter"/>
              </a:rPr>
              <a:t>25 of 25 off-topic test prompts were declined, none sent online.</a:t>
            </a:r>
          </a:p>
        </p:txBody>
      </p:sp>
      <p:cxnSp>
        <p:nvCxnSpPr>
          <p:cNvPr id="18" name="Connector 17"/>
          <p:cNvCxnSpPr/>
          <p:nvPr/>
        </p:nvCxnSpPr>
        <p:spPr>
          <a:xfrm>
            <a:off x="640080" y="6382512"/>
            <a:ext cx="10911535" cy="0"/>
          </a:xfrm>
          <a:prstGeom prst="line">
            <a:avLst/>
          </a:prstGeom>
          <a:ln>
            <a:solidFill>
              <a:srgbClr val="2A3F5C"/>
            </a:solidFill>
          </a:ln>
        </p:spPr>
        <p:style>
          <a:lnRef idx="2">
            <a:schemeClr val="accent1"/>
          </a:lnRef>
          <a:fillRef idx="0">
            <a:schemeClr val="accent1"/>
          </a:fillRef>
          <a:effectRef idx="1">
            <a:schemeClr val="accent1"/>
          </a:effectRef>
          <a:fontRef idx="minor">
            <a:schemeClr val="tx1"/>
          </a:fontRef>
        </p:style>
      </p:cxnSp>
      <p:pic>
        <p:nvPicPr>
          <p:cNvPr id="19" name="Picture 18" descr="logo.png"/>
          <p:cNvPicPr>
            <a:picLocks noChangeAspect="1"/>
          </p:cNvPicPr>
          <p:nvPr/>
        </p:nvPicPr>
        <p:blipFill>
          <a:blip r:embed="rId4"/>
          <a:stretch>
            <a:fillRect/>
          </a:stretch>
        </p:blipFill>
        <p:spPr>
          <a:xfrm>
            <a:off x="640080" y="6446520"/>
            <a:ext cx="292608" cy="292608"/>
          </a:xfrm>
          <a:prstGeom prst="rect">
            <a:avLst/>
          </a:prstGeom>
        </p:spPr>
      </p:pic>
      <p:sp>
        <p:nvSpPr>
          <p:cNvPr id="20" name="TextBox 19"/>
          <p:cNvSpPr txBox="1"/>
          <p:nvPr/>
        </p:nvSpPr>
        <p:spPr>
          <a:xfrm>
            <a:off x="1024128" y="6464808"/>
            <a:ext cx="7772400" cy="274320"/>
          </a:xfrm>
          <a:prstGeom prst="rect">
            <a:avLst/>
          </a:prstGeom>
          <a:noFill/>
        </p:spPr>
        <p:txBody>
          <a:bodyPr wrap="square" lIns="0" rIns="0" tIns="0" bIns="0" anchor="ctr">
            <a:spAutoFit/>
          </a:bodyPr>
          <a:lstStyle/>
          <a:p>
            <a:pPr algn="l">
              <a:lnSpc>
                <a:spcPct val="110000"/>
              </a:lnSpc>
              <a:spcAft>
                <a:spcPts val="0"/>
              </a:spcAft>
            </a:pPr>
            <a:r>
              <a:rPr sz="1400" b="1">
                <a:solidFill>
                  <a:srgbClr val="B4C1D2"/>
                </a:solidFill>
                <a:latin typeface="Inter"/>
                <a:ea typeface="Inter"/>
                <a:cs typeface="Inter"/>
              </a:rPr>
              <a:t>Capzoryx Copilot</a:t>
            </a:r>
            <a:r>
              <a:rPr sz="1400" b="0">
                <a:solidFill>
                  <a:srgbClr val="8FA0B5"/>
                </a:solidFill>
                <a:latin typeface="Inter"/>
                <a:ea typeface="Inter"/>
                <a:cs typeface="Inter"/>
              </a:rPr>
              <a:t>  ·  2026 Shenzhen International FinTechathon  ·  Topic E</a:t>
            </a:r>
          </a:p>
        </p:txBody>
      </p:sp>
      <p:sp>
        <p:nvSpPr>
          <p:cNvPr id="21" name="TextBox 20"/>
          <p:cNvSpPr txBox="1"/>
          <p:nvPr/>
        </p:nvSpPr>
        <p:spPr>
          <a:xfrm>
            <a:off x="9722815" y="6464808"/>
            <a:ext cx="1828800" cy="274320"/>
          </a:xfrm>
          <a:prstGeom prst="rect">
            <a:avLst/>
          </a:prstGeom>
          <a:noFill/>
        </p:spPr>
        <p:txBody>
          <a:bodyPr wrap="square" lIns="0" rIns="0" tIns="0" bIns="0" anchor="ctr">
            <a:spAutoFit/>
          </a:bodyPr>
          <a:lstStyle/>
          <a:p>
            <a:pPr algn="r">
              <a:lnSpc>
                <a:spcPct val="110000"/>
              </a:lnSpc>
              <a:spcAft>
                <a:spcPts val="0"/>
              </a:spcAft>
            </a:pPr>
            <a:r>
              <a:rPr sz="1400" b="1">
                <a:solidFill>
                  <a:srgbClr val="B4C1D2"/>
                </a:solidFill>
                <a:latin typeface="Inter"/>
                <a:ea typeface="Inter"/>
                <a:cs typeface="Inter"/>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lIns="0" rIns="0" tIns="0" bIns="0" anchor="t">
            <a:spAutoFit/>
          </a:bodyPr>
          <a:lstStyle/>
          <a:p>
            <a:pPr algn="l">
              <a:lnSpc>
                <a:spcPct val="110000"/>
              </a:lnSpc>
              <a:spcAft>
                <a:spcPts val="0"/>
              </a:spcAft>
            </a:pPr>
            <a:r>
              <a:rPr sz="1400" b="1" spc="200">
                <a:solidFill>
                  <a:srgbClr val="3BE3C1"/>
                </a:solidFill>
                <a:latin typeface="Inter"/>
                <a:ea typeface="Inter"/>
                <a:cs typeface="Inter"/>
              </a:rPr>
              <a:t>09 / HOW IT WORKS</a:t>
            </a:r>
          </a:p>
        </p:txBody>
      </p:sp>
      <p:sp>
        <p:nvSpPr>
          <p:cNvPr id="3" name="TextBox 2"/>
          <p:cNvSpPr txBox="1"/>
          <p:nvPr/>
        </p:nvSpPr>
        <p:spPr>
          <a:xfrm>
            <a:off x="640080" y="713232"/>
            <a:ext cx="10881360" cy="731520"/>
          </a:xfrm>
          <a:prstGeom prst="rect">
            <a:avLst/>
          </a:prstGeom>
          <a:noFill/>
        </p:spPr>
        <p:txBody>
          <a:bodyPr wrap="square" lIns="0" rIns="0" tIns="0" bIns="0" anchor="t">
            <a:spAutoFit/>
          </a:bodyPr>
          <a:lstStyle/>
          <a:p>
            <a:pPr algn="l">
              <a:lnSpc>
                <a:spcPct val="100000"/>
              </a:lnSpc>
              <a:spcAft>
                <a:spcPts val="0"/>
              </a:spcAft>
            </a:pPr>
            <a:r>
              <a:rPr sz="3600" b="1">
                <a:solidFill>
                  <a:srgbClr val="FFFFFF"/>
                </a:solidFill>
                <a:latin typeface="Inter"/>
                <a:ea typeface="Inter"/>
                <a:cs typeface="Inter"/>
              </a:rPr>
              <a:t>Trust boundaries are part of the architecture.</a:t>
            </a:r>
          </a:p>
        </p:txBody>
      </p:sp>
      <p:sp>
        <p:nvSpPr>
          <p:cNvPr id="4" name="TextBox 3"/>
          <p:cNvSpPr txBox="1"/>
          <p:nvPr/>
        </p:nvSpPr>
        <p:spPr>
          <a:xfrm>
            <a:off x="640080" y="1389888"/>
            <a:ext cx="10881360" cy="411480"/>
          </a:xfrm>
          <a:prstGeom prst="rect">
            <a:avLst/>
          </a:prstGeom>
          <a:noFill/>
        </p:spPr>
        <p:txBody>
          <a:bodyPr wrap="square" lIns="0" rIns="0" tIns="0" bIns="0" anchor="t">
            <a:spAutoFit/>
          </a:bodyPr>
          <a:lstStyle/>
          <a:p>
            <a:pPr algn="l">
              <a:lnSpc>
                <a:spcPct val="110000"/>
              </a:lnSpc>
              <a:spcAft>
                <a:spcPts val="0"/>
              </a:spcAft>
            </a:pPr>
            <a:r>
              <a:rPr sz="2000" b="0">
                <a:solidFill>
                  <a:srgbClr val="B4C1D2"/>
                </a:solidFill>
                <a:latin typeface="Inter"/>
                <a:ea typeface="Inter"/>
                <a:cs typeface="Inter"/>
              </a:rPr>
              <a:t>Financial authority stays in the policy engine, not in the AI model.</a:t>
            </a:r>
          </a:p>
        </p:txBody>
      </p:sp>
      <p:sp>
        <p:nvSpPr>
          <p:cNvPr id="5" name="Rounded Rectangle 4"/>
          <p:cNvSpPr/>
          <p:nvPr/>
        </p:nvSpPr>
        <p:spPr>
          <a:xfrm>
            <a:off x="640080" y="2148840"/>
            <a:ext cx="3337560" cy="2377440"/>
          </a:xfrm>
          <a:prstGeom prst="roundRect">
            <a:avLst>
              <a:gd name="adj" fmla="val 5384"/>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6112" y="2423160"/>
            <a:ext cx="82296" cy="411480"/>
          </a:xfrm>
          <a:prstGeom prst="roundRect">
            <a:avLst>
              <a:gd name="adj" fmla="val 44444"/>
            </a:avLst>
          </a:prstGeom>
          <a:solidFill>
            <a:srgbClr val="3BE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395728"/>
            <a:ext cx="2743200" cy="457200"/>
          </a:xfrm>
          <a:prstGeom prst="rect">
            <a:avLst/>
          </a:prstGeom>
          <a:noFill/>
        </p:spPr>
        <p:txBody>
          <a:bodyPr wrap="square" lIns="0" rIns="0" tIns="0" bIns="0" anchor="t">
            <a:spAutoFit/>
          </a:bodyPr>
          <a:lstStyle/>
          <a:p>
            <a:pPr algn="l">
              <a:lnSpc>
                <a:spcPct val="110000"/>
              </a:lnSpc>
              <a:spcAft>
                <a:spcPts val="0"/>
              </a:spcAft>
            </a:pPr>
            <a:r>
              <a:rPr sz="1700" b="1">
                <a:solidFill>
                  <a:srgbClr val="FFFFFF"/>
                </a:solidFill>
                <a:latin typeface="Inter"/>
                <a:ea typeface="Inter"/>
                <a:cs typeface="Inter"/>
              </a:rPr>
              <a:t>FRONTEND</a:t>
            </a:r>
          </a:p>
        </p:txBody>
      </p:sp>
      <p:sp>
        <p:nvSpPr>
          <p:cNvPr id="8" name="TextBox 7"/>
          <p:cNvSpPr txBox="1"/>
          <p:nvPr/>
        </p:nvSpPr>
        <p:spPr>
          <a:xfrm>
            <a:off x="914400" y="3017520"/>
            <a:ext cx="2926080" cy="365760"/>
          </a:xfrm>
          <a:prstGeom prst="rect">
            <a:avLst/>
          </a:prstGeom>
          <a:noFill/>
        </p:spPr>
        <p:txBody>
          <a:bodyPr wrap="square" lIns="0" rIns="0" tIns="0" bIns="0" anchor="t">
            <a:spAutoFit/>
          </a:bodyPr>
          <a:lstStyle/>
          <a:p>
            <a:pPr algn="l">
              <a:lnSpc>
                <a:spcPct val="110000"/>
              </a:lnSpc>
              <a:spcAft>
                <a:spcPts val="0"/>
              </a:spcAft>
            </a:pPr>
            <a:r>
              <a:rPr sz="1700" b="1">
                <a:solidFill>
                  <a:srgbClr val="3BE3C1"/>
                </a:solidFill>
                <a:latin typeface="Inter"/>
                <a:ea typeface="Inter"/>
                <a:cs typeface="Inter"/>
              </a:rPr>
              <a:t>React 19 · TypeScript</a:t>
            </a:r>
          </a:p>
        </p:txBody>
      </p:sp>
      <p:sp>
        <p:nvSpPr>
          <p:cNvPr id="9" name="TextBox 8"/>
          <p:cNvSpPr txBox="1"/>
          <p:nvPr/>
        </p:nvSpPr>
        <p:spPr>
          <a:xfrm>
            <a:off x="914400" y="3383280"/>
            <a:ext cx="2926080" cy="365760"/>
          </a:xfrm>
          <a:prstGeom prst="rect">
            <a:avLst/>
          </a:prstGeom>
          <a:noFill/>
        </p:spPr>
        <p:txBody>
          <a:bodyPr wrap="square" lIns="0" rIns="0" tIns="0" bIns="0" anchor="t">
            <a:spAutoFit/>
          </a:bodyPr>
          <a:lstStyle/>
          <a:p>
            <a:pPr algn="l">
              <a:lnSpc>
                <a:spcPct val="110000"/>
              </a:lnSpc>
              <a:spcAft>
                <a:spcPts val="0"/>
              </a:spcAft>
            </a:pPr>
            <a:r>
              <a:rPr sz="1600" b="0">
                <a:solidFill>
                  <a:srgbClr val="B4C1D2"/>
                </a:solidFill>
                <a:latin typeface="Inter"/>
                <a:ea typeface="Inter"/>
                <a:cs typeface="Inter"/>
              </a:rPr>
              <a:t>Vercel</a:t>
            </a:r>
          </a:p>
        </p:txBody>
      </p:sp>
      <p:sp>
        <p:nvSpPr>
          <p:cNvPr id="10" name="TextBox 9"/>
          <p:cNvSpPr txBox="1"/>
          <p:nvPr/>
        </p:nvSpPr>
        <p:spPr>
          <a:xfrm>
            <a:off x="914400" y="3749039"/>
            <a:ext cx="2926080" cy="685800"/>
          </a:xfrm>
          <a:prstGeom prst="rect">
            <a:avLst/>
          </a:prstGeom>
          <a:noFill/>
        </p:spPr>
        <p:txBody>
          <a:bodyPr wrap="square" lIns="0" rIns="0" tIns="0" bIns="0" anchor="t">
            <a:spAutoFit/>
          </a:bodyPr>
          <a:lstStyle/>
          <a:p>
            <a:pPr algn="l">
              <a:lnSpc>
                <a:spcPct val="105000"/>
              </a:lnSpc>
              <a:spcAft>
                <a:spcPts val="0"/>
              </a:spcAft>
            </a:pPr>
            <a:r>
              <a:rPr sz="1600" b="0">
                <a:solidFill>
                  <a:srgbClr val="B4C1D2"/>
                </a:solidFill>
                <a:latin typeface="Inter"/>
                <a:ea typeface="Inter"/>
                <a:cs typeface="Inter"/>
              </a:rPr>
              <a:t>Entry, dashboards, chat, consent</a:t>
            </a:r>
          </a:p>
        </p:txBody>
      </p:sp>
      <p:sp>
        <p:nvSpPr>
          <p:cNvPr id="11" name="Chevron 10"/>
          <p:cNvSpPr/>
          <p:nvPr/>
        </p:nvSpPr>
        <p:spPr>
          <a:xfrm>
            <a:off x="4069080" y="3063240"/>
            <a:ext cx="228600" cy="365760"/>
          </a:xfrm>
          <a:prstGeom prst="chevron">
            <a:avLst/>
          </a:prstGeom>
          <a:solidFill>
            <a:srgbClr val="3BE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9120" y="2148840"/>
            <a:ext cx="3337560" cy="2377440"/>
          </a:xfrm>
          <a:prstGeom prst="roundRect">
            <a:avLst>
              <a:gd name="adj" fmla="val 5384"/>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45152" y="2423160"/>
            <a:ext cx="82296" cy="411480"/>
          </a:xfrm>
          <a:prstGeom prst="roundRect">
            <a:avLst>
              <a:gd name="adj" fmla="val 44444"/>
            </a:avLst>
          </a:prstGeom>
          <a:solidFill>
            <a:srgbClr val="6F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92040" y="2395728"/>
            <a:ext cx="2743200" cy="457200"/>
          </a:xfrm>
          <a:prstGeom prst="rect">
            <a:avLst/>
          </a:prstGeom>
          <a:noFill/>
        </p:spPr>
        <p:txBody>
          <a:bodyPr wrap="square" lIns="0" rIns="0" tIns="0" bIns="0" anchor="t">
            <a:spAutoFit/>
          </a:bodyPr>
          <a:lstStyle/>
          <a:p>
            <a:pPr algn="l">
              <a:lnSpc>
                <a:spcPct val="110000"/>
              </a:lnSpc>
              <a:spcAft>
                <a:spcPts val="0"/>
              </a:spcAft>
            </a:pPr>
            <a:r>
              <a:rPr sz="1700" b="1">
                <a:solidFill>
                  <a:srgbClr val="FFFFFF"/>
                </a:solidFill>
                <a:latin typeface="Inter"/>
                <a:ea typeface="Inter"/>
                <a:cs typeface="Inter"/>
              </a:rPr>
              <a:t>POLICY + FINANCE API</a:t>
            </a:r>
          </a:p>
        </p:txBody>
      </p:sp>
      <p:sp>
        <p:nvSpPr>
          <p:cNvPr id="15" name="TextBox 14"/>
          <p:cNvSpPr txBox="1"/>
          <p:nvPr/>
        </p:nvSpPr>
        <p:spPr>
          <a:xfrm>
            <a:off x="4663440" y="3017520"/>
            <a:ext cx="2926080" cy="365760"/>
          </a:xfrm>
          <a:prstGeom prst="rect">
            <a:avLst/>
          </a:prstGeom>
          <a:noFill/>
        </p:spPr>
        <p:txBody>
          <a:bodyPr wrap="square" lIns="0" rIns="0" tIns="0" bIns="0" anchor="t">
            <a:spAutoFit/>
          </a:bodyPr>
          <a:lstStyle/>
          <a:p>
            <a:pPr algn="l">
              <a:lnSpc>
                <a:spcPct val="110000"/>
              </a:lnSpc>
              <a:spcAft>
                <a:spcPts val="0"/>
              </a:spcAft>
            </a:pPr>
            <a:r>
              <a:rPr sz="1700" b="1">
                <a:solidFill>
                  <a:srgbClr val="6FB7FF"/>
                </a:solidFill>
                <a:latin typeface="Inter"/>
                <a:ea typeface="Inter"/>
                <a:cs typeface="Inter"/>
              </a:rPr>
              <a:t>FastAPI · Pydantic</a:t>
            </a:r>
          </a:p>
        </p:txBody>
      </p:sp>
      <p:sp>
        <p:nvSpPr>
          <p:cNvPr id="16" name="TextBox 15"/>
          <p:cNvSpPr txBox="1"/>
          <p:nvPr/>
        </p:nvSpPr>
        <p:spPr>
          <a:xfrm>
            <a:off x="4663440" y="3383280"/>
            <a:ext cx="2926080" cy="365760"/>
          </a:xfrm>
          <a:prstGeom prst="rect">
            <a:avLst/>
          </a:prstGeom>
          <a:noFill/>
        </p:spPr>
        <p:txBody>
          <a:bodyPr wrap="square" lIns="0" rIns="0" tIns="0" bIns="0" anchor="t">
            <a:spAutoFit/>
          </a:bodyPr>
          <a:lstStyle/>
          <a:p>
            <a:pPr algn="l">
              <a:lnSpc>
                <a:spcPct val="110000"/>
              </a:lnSpc>
              <a:spcAft>
                <a:spcPts val="0"/>
              </a:spcAft>
            </a:pPr>
            <a:r>
              <a:rPr sz="1600" b="0">
                <a:solidFill>
                  <a:srgbClr val="B4C1D2"/>
                </a:solidFill>
                <a:latin typeface="Inter"/>
                <a:ea typeface="Inter"/>
                <a:cs typeface="Inter"/>
              </a:rPr>
              <a:t>Render</a:t>
            </a:r>
          </a:p>
        </p:txBody>
      </p:sp>
      <p:sp>
        <p:nvSpPr>
          <p:cNvPr id="17" name="TextBox 16"/>
          <p:cNvSpPr txBox="1"/>
          <p:nvPr/>
        </p:nvSpPr>
        <p:spPr>
          <a:xfrm>
            <a:off x="4663440" y="3749039"/>
            <a:ext cx="2926080" cy="685800"/>
          </a:xfrm>
          <a:prstGeom prst="rect">
            <a:avLst/>
          </a:prstGeom>
          <a:noFill/>
        </p:spPr>
        <p:txBody>
          <a:bodyPr wrap="square" lIns="0" rIns="0" tIns="0" bIns="0" anchor="t">
            <a:spAutoFit/>
          </a:bodyPr>
          <a:lstStyle/>
          <a:p>
            <a:pPr algn="l">
              <a:lnSpc>
                <a:spcPct val="105000"/>
              </a:lnSpc>
              <a:spcAft>
                <a:spcPts val="0"/>
              </a:spcAft>
            </a:pPr>
            <a:r>
              <a:rPr sz="1600" b="0">
                <a:solidFill>
                  <a:srgbClr val="B4C1D2"/>
                </a:solidFill>
                <a:latin typeface="Inter"/>
                <a:ea typeface="Inter"/>
                <a:cs typeface="Inter"/>
              </a:rPr>
              <a:t>Exact money, roles, reserve, approvals</a:t>
            </a:r>
          </a:p>
        </p:txBody>
      </p:sp>
      <p:sp>
        <p:nvSpPr>
          <p:cNvPr id="18" name="Chevron 17"/>
          <p:cNvSpPr/>
          <p:nvPr/>
        </p:nvSpPr>
        <p:spPr>
          <a:xfrm>
            <a:off x="7818120" y="3063240"/>
            <a:ext cx="228600" cy="365760"/>
          </a:xfrm>
          <a:prstGeom prst="chevron">
            <a:avLst/>
          </a:prstGeom>
          <a:solidFill>
            <a:srgbClr val="3BE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138159" y="2148840"/>
            <a:ext cx="3337560" cy="2377440"/>
          </a:xfrm>
          <a:prstGeom prst="roundRect">
            <a:avLst>
              <a:gd name="adj" fmla="val 5384"/>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394191" y="2423160"/>
            <a:ext cx="82296" cy="411480"/>
          </a:xfrm>
          <a:prstGeom prst="roundRect">
            <a:avLst>
              <a:gd name="adj" fmla="val 44444"/>
            </a:avLst>
          </a:prstGeom>
          <a:solidFill>
            <a:srgbClr val="C7F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41080" y="2395728"/>
            <a:ext cx="2743200" cy="457200"/>
          </a:xfrm>
          <a:prstGeom prst="rect">
            <a:avLst/>
          </a:prstGeom>
          <a:noFill/>
        </p:spPr>
        <p:txBody>
          <a:bodyPr wrap="square" lIns="0" rIns="0" tIns="0" bIns="0" anchor="t">
            <a:spAutoFit/>
          </a:bodyPr>
          <a:lstStyle/>
          <a:p>
            <a:pPr algn="l">
              <a:lnSpc>
                <a:spcPct val="110000"/>
              </a:lnSpc>
              <a:spcAft>
                <a:spcPts val="0"/>
              </a:spcAft>
            </a:pPr>
            <a:r>
              <a:rPr sz="1700" b="1">
                <a:solidFill>
                  <a:srgbClr val="FFFFFF"/>
                </a:solidFill>
                <a:latin typeface="Inter"/>
                <a:ea typeface="Inter"/>
                <a:cs typeface="Inter"/>
              </a:rPr>
              <a:t>PERSISTENT STATE</a:t>
            </a:r>
          </a:p>
        </p:txBody>
      </p:sp>
      <p:sp>
        <p:nvSpPr>
          <p:cNvPr id="22" name="TextBox 21"/>
          <p:cNvSpPr txBox="1"/>
          <p:nvPr/>
        </p:nvSpPr>
        <p:spPr>
          <a:xfrm>
            <a:off x="8412480" y="3017520"/>
            <a:ext cx="2926080" cy="365760"/>
          </a:xfrm>
          <a:prstGeom prst="rect">
            <a:avLst/>
          </a:prstGeom>
          <a:noFill/>
        </p:spPr>
        <p:txBody>
          <a:bodyPr wrap="square" lIns="0" rIns="0" tIns="0" bIns="0" anchor="t">
            <a:spAutoFit/>
          </a:bodyPr>
          <a:lstStyle/>
          <a:p>
            <a:pPr algn="l">
              <a:lnSpc>
                <a:spcPct val="110000"/>
              </a:lnSpc>
              <a:spcAft>
                <a:spcPts val="0"/>
              </a:spcAft>
            </a:pPr>
            <a:r>
              <a:rPr sz="1700" b="1">
                <a:solidFill>
                  <a:srgbClr val="C7F36B"/>
                </a:solidFill>
                <a:latin typeface="Inter"/>
                <a:ea typeface="Inter"/>
                <a:cs typeface="Inter"/>
              </a:rPr>
              <a:t>Turso / libSQL</a:t>
            </a:r>
          </a:p>
        </p:txBody>
      </p:sp>
      <p:sp>
        <p:nvSpPr>
          <p:cNvPr id="23" name="TextBox 22"/>
          <p:cNvSpPr txBox="1"/>
          <p:nvPr/>
        </p:nvSpPr>
        <p:spPr>
          <a:xfrm>
            <a:off x="8412480" y="3383280"/>
            <a:ext cx="2926080" cy="365760"/>
          </a:xfrm>
          <a:prstGeom prst="rect">
            <a:avLst/>
          </a:prstGeom>
          <a:noFill/>
        </p:spPr>
        <p:txBody>
          <a:bodyPr wrap="square" lIns="0" rIns="0" tIns="0" bIns="0" anchor="t">
            <a:spAutoFit/>
          </a:bodyPr>
          <a:lstStyle/>
          <a:p>
            <a:pPr algn="l">
              <a:lnSpc>
                <a:spcPct val="110000"/>
              </a:lnSpc>
              <a:spcAft>
                <a:spcPts val="0"/>
              </a:spcAft>
            </a:pPr>
            <a:r>
              <a:rPr sz="1600" b="0">
                <a:solidFill>
                  <a:srgbClr val="B4C1D2"/>
                </a:solidFill>
                <a:latin typeface="Inter"/>
                <a:ea typeface="Inter"/>
                <a:cs typeface="Inter"/>
              </a:rPr>
              <a:t>SQLite locally</a:t>
            </a:r>
          </a:p>
        </p:txBody>
      </p:sp>
      <p:sp>
        <p:nvSpPr>
          <p:cNvPr id="24" name="TextBox 23"/>
          <p:cNvSpPr txBox="1"/>
          <p:nvPr/>
        </p:nvSpPr>
        <p:spPr>
          <a:xfrm>
            <a:off x="8412480" y="3749039"/>
            <a:ext cx="2926080" cy="685800"/>
          </a:xfrm>
          <a:prstGeom prst="rect">
            <a:avLst/>
          </a:prstGeom>
          <a:noFill/>
        </p:spPr>
        <p:txBody>
          <a:bodyPr wrap="square" lIns="0" rIns="0" tIns="0" bIns="0" anchor="t">
            <a:spAutoFit/>
          </a:bodyPr>
          <a:lstStyle/>
          <a:p>
            <a:pPr algn="l">
              <a:lnSpc>
                <a:spcPct val="105000"/>
              </a:lnSpc>
              <a:spcAft>
                <a:spcPts val="0"/>
              </a:spcAft>
            </a:pPr>
            <a:r>
              <a:rPr sz="1600" b="0">
                <a:solidFill>
                  <a:srgbClr val="B4C1D2"/>
                </a:solidFill>
                <a:latin typeface="Inter"/>
                <a:ea typeface="Inter"/>
                <a:cs typeface="Inter"/>
              </a:rPr>
              <a:t>Ledger, journal, signed audit chain</a:t>
            </a:r>
          </a:p>
        </p:txBody>
      </p:sp>
      <p:sp>
        <p:nvSpPr>
          <p:cNvPr id="25" name="Rounded Rectangle 24"/>
          <p:cNvSpPr/>
          <p:nvPr/>
        </p:nvSpPr>
        <p:spPr>
          <a:xfrm>
            <a:off x="2926080" y="4754880"/>
            <a:ext cx="6309360" cy="868680"/>
          </a:xfrm>
          <a:prstGeom prst="roundRect">
            <a:avLst>
              <a:gd name="adj" fmla="val 14736"/>
            </a:avLst>
          </a:prstGeom>
          <a:solidFill>
            <a:srgbClr val="172A44"/>
          </a:solidFill>
          <a:ln w="15875">
            <a:solidFill>
              <a:srgbClr val="3BE3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26080" y="4754880"/>
            <a:ext cx="6309360" cy="868680"/>
          </a:xfrm>
          <a:prstGeom prst="rect">
            <a:avLst/>
          </a:prstGeom>
          <a:noFill/>
        </p:spPr>
        <p:txBody>
          <a:bodyPr wrap="square" lIns="0" rIns="0" tIns="0" bIns="0" anchor="ctr">
            <a:spAutoFit/>
          </a:bodyPr>
          <a:lstStyle/>
          <a:p>
            <a:pPr algn="ctr">
              <a:lnSpc>
                <a:spcPct val="115000"/>
              </a:lnSpc>
              <a:spcAft>
                <a:spcPts val="0"/>
              </a:spcAft>
            </a:pPr>
            <a:r>
              <a:rPr sz="1600" b="1">
                <a:solidFill>
                  <a:srgbClr val="FFFFFF"/>
                </a:solidFill>
                <a:latin typeface="Inter"/>
                <a:ea typeface="Inter"/>
                <a:cs typeface="Inter"/>
              </a:rPr>
              <a:t>OPTIONAL CLOUD AI  ·  EXPLANATIONS ONLY</a:t>
            </a:r>
          </a:p>
          <a:p>
            <a:pPr algn="ctr">
              <a:lnSpc>
                <a:spcPct val="115000"/>
              </a:lnSpc>
              <a:spcAft>
                <a:spcPts val="0"/>
              </a:spcAft>
            </a:pPr>
            <a:r>
              <a:rPr sz="1600" b="0">
                <a:solidFill>
                  <a:srgbClr val="B4C1D2"/>
                </a:solidFill>
                <a:latin typeface="Inter"/>
                <a:ea typeface="Inter"/>
                <a:cs typeface="Inter"/>
              </a:rPr>
              <a:t>Typed tools · consent first · no approve or execute tool</a:t>
            </a:r>
          </a:p>
        </p:txBody>
      </p:sp>
      <p:sp>
        <p:nvSpPr>
          <p:cNvPr id="27" name="TextBox 26"/>
          <p:cNvSpPr txBox="1"/>
          <p:nvPr/>
        </p:nvSpPr>
        <p:spPr>
          <a:xfrm>
            <a:off x="640080" y="5760720"/>
            <a:ext cx="10908792" cy="548640"/>
          </a:xfrm>
          <a:prstGeom prst="rect">
            <a:avLst/>
          </a:prstGeom>
          <a:noFill/>
        </p:spPr>
        <p:txBody>
          <a:bodyPr wrap="square" lIns="0" rIns="0" tIns="0" bIns="0" anchor="t">
            <a:spAutoFit/>
          </a:bodyPr>
          <a:lstStyle/>
          <a:p>
            <a:pPr algn="l">
              <a:lnSpc>
                <a:spcPct val="110000"/>
              </a:lnSpc>
              <a:spcAft>
                <a:spcPts val="0"/>
              </a:spcAft>
            </a:pPr>
            <a:r>
              <a:rPr sz="1600" b="0">
                <a:solidFill>
                  <a:srgbClr val="B4C1D2"/>
                </a:solidFill>
                <a:latin typeface="Inter"/>
                <a:ea typeface="Inter"/>
                <a:cs typeface="Inter"/>
              </a:rPr>
              <a:t>Server-derived identity · exact integer money · append-only ledger · strict CSP · scrypt-hashed passwords</a:t>
            </a:r>
          </a:p>
        </p:txBody>
      </p:sp>
      <p:cxnSp>
        <p:nvCxnSpPr>
          <p:cNvPr id="28" name="Connector 27"/>
          <p:cNvCxnSpPr/>
          <p:nvPr/>
        </p:nvCxnSpPr>
        <p:spPr>
          <a:xfrm>
            <a:off x="640080" y="6382512"/>
            <a:ext cx="10911535" cy="0"/>
          </a:xfrm>
          <a:prstGeom prst="line">
            <a:avLst/>
          </a:prstGeom>
          <a:ln>
            <a:solidFill>
              <a:srgbClr val="2A3F5C"/>
            </a:solidFill>
          </a:ln>
        </p:spPr>
        <p:style>
          <a:lnRef idx="2">
            <a:schemeClr val="accent1"/>
          </a:lnRef>
          <a:fillRef idx="0">
            <a:schemeClr val="accent1"/>
          </a:fillRef>
          <a:effectRef idx="1">
            <a:schemeClr val="accent1"/>
          </a:effectRef>
          <a:fontRef idx="minor">
            <a:schemeClr val="tx1"/>
          </a:fontRef>
        </p:style>
      </p:cxnSp>
      <p:pic>
        <p:nvPicPr>
          <p:cNvPr id="29" name="Picture 28" descr="logo.png"/>
          <p:cNvPicPr>
            <a:picLocks noChangeAspect="1"/>
          </p:cNvPicPr>
          <p:nvPr/>
        </p:nvPicPr>
        <p:blipFill>
          <a:blip r:embed="rId3"/>
          <a:stretch>
            <a:fillRect/>
          </a:stretch>
        </p:blipFill>
        <p:spPr>
          <a:xfrm>
            <a:off x="640080" y="6446520"/>
            <a:ext cx="292608" cy="292608"/>
          </a:xfrm>
          <a:prstGeom prst="rect">
            <a:avLst/>
          </a:prstGeom>
        </p:spPr>
      </p:pic>
      <p:sp>
        <p:nvSpPr>
          <p:cNvPr id="30" name="TextBox 29"/>
          <p:cNvSpPr txBox="1"/>
          <p:nvPr/>
        </p:nvSpPr>
        <p:spPr>
          <a:xfrm>
            <a:off x="1024128" y="6464808"/>
            <a:ext cx="7772400" cy="274320"/>
          </a:xfrm>
          <a:prstGeom prst="rect">
            <a:avLst/>
          </a:prstGeom>
          <a:noFill/>
        </p:spPr>
        <p:txBody>
          <a:bodyPr wrap="square" lIns="0" rIns="0" tIns="0" bIns="0" anchor="ctr">
            <a:spAutoFit/>
          </a:bodyPr>
          <a:lstStyle/>
          <a:p>
            <a:pPr algn="l">
              <a:lnSpc>
                <a:spcPct val="110000"/>
              </a:lnSpc>
              <a:spcAft>
                <a:spcPts val="0"/>
              </a:spcAft>
            </a:pPr>
            <a:r>
              <a:rPr sz="1400" b="1">
                <a:solidFill>
                  <a:srgbClr val="B4C1D2"/>
                </a:solidFill>
                <a:latin typeface="Inter"/>
                <a:ea typeface="Inter"/>
                <a:cs typeface="Inter"/>
              </a:rPr>
              <a:t>Capzoryx Copilot</a:t>
            </a:r>
            <a:r>
              <a:rPr sz="1400" b="0">
                <a:solidFill>
                  <a:srgbClr val="8FA0B5"/>
                </a:solidFill>
                <a:latin typeface="Inter"/>
                <a:ea typeface="Inter"/>
                <a:cs typeface="Inter"/>
              </a:rPr>
              <a:t>  ·  2026 Shenzhen International FinTechathon  ·  Topic E</a:t>
            </a:r>
          </a:p>
        </p:txBody>
      </p:sp>
      <p:sp>
        <p:nvSpPr>
          <p:cNvPr id="31" name="TextBox 30"/>
          <p:cNvSpPr txBox="1"/>
          <p:nvPr/>
        </p:nvSpPr>
        <p:spPr>
          <a:xfrm>
            <a:off x="9722815" y="6464808"/>
            <a:ext cx="1828800" cy="274320"/>
          </a:xfrm>
          <a:prstGeom prst="rect">
            <a:avLst/>
          </a:prstGeom>
          <a:noFill/>
        </p:spPr>
        <p:txBody>
          <a:bodyPr wrap="square" lIns="0" rIns="0" tIns="0" bIns="0" anchor="ctr">
            <a:spAutoFit/>
          </a:bodyPr>
          <a:lstStyle/>
          <a:p>
            <a:pPr algn="r">
              <a:lnSpc>
                <a:spcPct val="110000"/>
              </a:lnSpc>
              <a:spcAft>
                <a:spcPts val="0"/>
              </a:spcAft>
            </a:pPr>
            <a:r>
              <a:rPr sz="1400" b="1">
                <a:solidFill>
                  <a:srgbClr val="B4C1D2"/>
                </a:solidFill>
                <a:latin typeface="Inter"/>
                <a:ea typeface="Inter"/>
                <a:cs typeface="Inter"/>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lIns="0" rIns="0" tIns="0" bIns="0" anchor="t">
            <a:spAutoFit/>
          </a:bodyPr>
          <a:lstStyle/>
          <a:p>
            <a:pPr algn="l">
              <a:lnSpc>
                <a:spcPct val="110000"/>
              </a:lnSpc>
              <a:spcAft>
                <a:spcPts val="0"/>
              </a:spcAft>
            </a:pPr>
            <a:r>
              <a:rPr sz="1400" b="1" spc="200">
                <a:solidFill>
                  <a:srgbClr val="3BE3C1"/>
                </a:solidFill>
                <a:latin typeface="Inter"/>
                <a:ea typeface="Inter"/>
                <a:cs typeface="Inter"/>
              </a:rPr>
              <a:t>10 / TECHNICAL EVIDENCE</a:t>
            </a:r>
          </a:p>
        </p:txBody>
      </p:sp>
      <p:sp>
        <p:nvSpPr>
          <p:cNvPr id="3" name="TextBox 2"/>
          <p:cNvSpPr txBox="1"/>
          <p:nvPr/>
        </p:nvSpPr>
        <p:spPr>
          <a:xfrm>
            <a:off x="640080" y="713232"/>
            <a:ext cx="10881360" cy="731520"/>
          </a:xfrm>
          <a:prstGeom prst="rect">
            <a:avLst/>
          </a:prstGeom>
          <a:noFill/>
        </p:spPr>
        <p:txBody>
          <a:bodyPr wrap="square" lIns="0" rIns="0" tIns="0" bIns="0" anchor="t">
            <a:spAutoFit/>
          </a:bodyPr>
          <a:lstStyle/>
          <a:p>
            <a:pPr algn="l">
              <a:lnSpc>
                <a:spcPct val="100000"/>
              </a:lnSpc>
              <a:spcAft>
                <a:spcPts val="0"/>
              </a:spcAft>
            </a:pPr>
            <a:r>
              <a:rPr sz="3600" b="1">
                <a:solidFill>
                  <a:srgbClr val="FFFFFF"/>
                </a:solidFill>
                <a:latin typeface="Inter"/>
                <a:ea typeface="Inter"/>
                <a:cs typeface="Inter"/>
              </a:rPr>
              <a:t>We test the controls, and disclose the limits.</a:t>
            </a:r>
          </a:p>
        </p:txBody>
      </p:sp>
      <p:sp>
        <p:nvSpPr>
          <p:cNvPr id="4" name="TextBox 3"/>
          <p:cNvSpPr txBox="1"/>
          <p:nvPr/>
        </p:nvSpPr>
        <p:spPr>
          <a:xfrm>
            <a:off x="640080" y="1389888"/>
            <a:ext cx="10881360" cy="411480"/>
          </a:xfrm>
          <a:prstGeom prst="rect">
            <a:avLst/>
          </a:prstGeom>
          <a:noFill/>
        </p:spPr>
        <p:txBody>
          <a:bodyPr wrap="square" lIns="0" rIns="0" tIns="0" bIns="0" anchor="t">
            <a:spAutoFit/>
          </a:bodyPr>
          <a:lstStyle/>
          <a:p>
            <a:pPr algn="l">
              <a:lnSpc>
                <a:spcPct val="110000"/>
              </a:lnSpc>
              <a:spcAft>
                <a:spcPts val="0"/>
              </a:spcAft>
            </a:pPr>
            <a:r>
              <a:rPr sz="2000" b="0">
                <a:solidFill>
                  <a:srgbClr val="B4C1D2"/>
                </a:solidFill>
                <a:latin typeface="Inter"/>
                <a:ea typeface="Inter"/>
                <a:cs typeface="Inter"/>
              </a:rPr>
              <a:t>Internal verification, re-run on 20 October 2026. Not independent certification.</a:t>
            </a:r>
          </a:p>
        </p:txBody>
      </p:sp>
      <p:sp>
        <p:nvSpPr>
          <p:cNvPr id="5" name="Rounded Rectangle 4"/>
          <p:cNvSpPr/>
          <p:nvPr/>
        </p:nvSpPr>
        <p:spPr>
          <a:xfrm>
            <a:off x="640080" y="1965960"/>
            <a:ext cx="2590038" cy="2697480"/>
          </a:xfrm>
          <a:prstGeom prst="roundRect">
            <a:avLst>
              <a:gd name="adj" fmla="val 4942"/>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48840"/>
            <a:ext cx="2286000" cy="731520"/>
          </a:xfrm>
          <a:prstGeom prst="rect">
            <a:avLst/>
          </a:prstGeom>
          <a:noFill/>
        </p:spPr>
        <p:txBody>
          <a:bodyPr wrap="square" lIns="0" rIns="0" tIns="0" bIns="0" anchor="t">
            <a:spAutoFit/>
          </a:bodyPr>
          <a:lstStyle/>
          <a:p>
            <a:pPr algn="l">
              <a:lnSpc>
                <a:spcPct val="110000"/>
              </a:lnSpc>
              <a:spcAft>
                <a:spcPts val="0"/>
              </a:spcAft>
            </a:pPr>
            <a:r>
              <a:rPr sz="3600" b="1">
                <a:solidFill>
                  <a:srgbClr val="3BE3C1"/>
                </a:solidFill>
                <a:latin typeface="Inter"/>
                <a:ea typeface="Inter"/>
                <a:cs typeface="Inter"/>
              </a:rPr>
              <a:t>490</a:t>
            </a:r>
          </a:p>
        </p:txBody>
      </p:sp>
      <p:sp>
        <p:nvSpPr>
          <p:cNvPr id="7" name="TextBox 6"/>
          <p:cNvSpPr txBox="1"/>
          <p:nvPr/>
        </p:nvSpPr>
        <p:spPr>
          <a:xfrm>
            <a:off x="868680" y="2926080"/>
            <a:ext cx="2194560" cy="685800"/>
          </a:xfrm>
          <a:prstGeom prst="rect">
            <a:avLst/>
          </a:prstGeom>
          <a:noFill/>
        </p:spPr>
        <p:txBody>
          <a:bodyPr wrap="square" lIns="0" rIns="0" tIns="0" bIns="0" anchor="t">
            <a:spAutoFit/>
          </a:bodyPr>
          <a:lstStyle/>
          <a:p>
            <a:pPr algn="l">
              <a:lnSpc>
                <a:spcPct val="105000"/>
              </a:lnSpc>
              <a:spcAft>
                <a:spcPts val="0"/>
              </a:spcAft>
            </a:pPr>
            <a:r>
              <a:rPr sz="1800" b="1">
                <a:solidFill>
                  <a:srgbClr val="FFFFFF"/>
                </a:solidFill>
                <a:latin typeface="Inter"/>
                <a:ea typeface="Inter"/>
                <a:cs typeface="Inter"/>
              </a:rPr>
              <a:t>backend tests</a:t>
            </a:r>
          </a:p>
        </p:txBody>
      </p:sp>
      <p:sp>
        <p:nvSpPr>
          <p:cNvPr id="8" name="TextBox 7"/>
          <p:cNvSpPr txBox="1"/>
          <p:nvPr/>
        </p:nvSpPr>
        <p:spPr>
          <a:xfrm>
            <a:off x="868680" y="3639312"/>
            <a:ext cx="2194560" cy="914400"/>
          </a:xfrm>
          <a:prstGeom prst="rect">
            <a:avLst/>
          </a:prstGeom>
          <a:noFill/>
        </p:spPr>
        <p:txBody>
          <a:bodyPr wrap="square" lIns="0" rIns="0" tIns="0" bIns="0" anchor="t">
            <a:spAutoFit/>
          </a:bodyPr>
          <a:lstStyle/>
          <a:p>
            <a:pPr algn="l">
              <a:lnSpc>
                <a:spcPct val="110000"/>
              </a:lnSpc>
              <a:spcAft>
                <a:spcPts val="0"/>
              </a:spcAft>
            </a:pPr>
            <a:r>
              <a:rPr sz="1500" b="0">
                <a:solidFill>
                  <a:srgbClr val="B4C1D2"/>
                </a:solidFill>
                <a:latin typeface="Inter"/>
                <a:ea typeface="Inter"/>
                <a:cs typeface="Inter"/>
              </a:rPr>
              <a:t>Roles, money, approvals; run in CI</a:t>
            </a:r>
          </a:p>
        </p:txBody>
      </p:sp>
      <p:sp>
        <p:nvSpPr>
          <p:cNvPr id="9" name="Rounded Rectangle 8"/>
          <p:cNvSpPr/>
          <p:nvPr/>
        </p:nvSpPr>
        <p:spPr>
          <a:xfrm>
            <a:off x="3412998" y="1965960"/>
            <a:ext cx="2590038" cy="2697480"/>
          </a:xfrm>
          <a:prstGeom prst="roundRect">
            <a:avLst>
              <a:gd name="adj" fmla="val 4942"/>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1598" y="2148840"/>
            <a:ext cx="2286000" cy="731520"/>
          </a:xfrm>
          <a:prstGeom prst="rect">
            <a:avLst/>
          </a:prstGeom>
          <a:noFill/>
        </p:spPr>
        <p:txBody>
          <a:bodyPr wrap="square" lIns="0" rIns="0" tIns="0" bIns="0" anchor="t">
            <a:spAutoFit/>
          </a:bodyPr>
          <a:lstStyle/>
          <a:p>
            <a:pPr algn="l">
              <a:lnSpc>
                <a:spcPct val="110000"/>
              </a:lnSpc>
              <a:spcAft>
                <a:spcPts val="0"/>
              </a:spcAft>
            </a:pPr>
            <a:r>
              <a:rPr sz="3600" b="1">
                <a:solidFill>
                  <a:srgbClr val="3BE3C1"/>
                </a:solidFill>
                <a:latin typeface="Inter"/>
                <a:ea typeface="Inter"/>
                <a:cs typeface="Inter"/>
              </a:rPr>
              <a:t>60 / 60</a:t>
            </a:r>
          </a:p>
        </p:txBody>
      </p:sp>
      <p:sp>
        <p:nvSpPr>
          <p:cNvPr id="11" name="TextBox 10"/>
          <p:cNvSpPr txBox="1"/>
          <p:nvPr/>
        </p:nvSpPr>
        <p:spPr>
          <a:xfrm>
            <a:off x="3641598" y="2926080"/>
            <a:ext cx="2194560" cy="685800"/>
          </a:xfrm>
          <a:prstGeom prst="rect">
            <a:avLst/>
          </a:prstGeom>
          <a:noFill/>
        </p:spPr>
        <p:txBody>
          <a:bodyPr wrap="square" lIns="0" rIns="0" tIns="0" bIns="0" anchor="t">
            <a:spAutoFit/>
          </a:bodyPr>
          <a:lstStyle/>
          <a:p>
            <a:pPr algn="l">
              <a:lnSpc>
                <a:spcPct val="105000"/>
              </a:lnSpc>
              <a:spcAft>
                <a:spcPts val="0"/>
              </a:spcAft>
            </a:pPr>
            <a:r>
              <a:rPr sz="1800" b="1">
                <a:solidFill>
                  <a:srgbClr val="FFFFFF"/>
                </a:solidFill>
                <a:latin typeface="Inter"/>
                <a:ea typeface="Inter"/>
                <a:cs typeface="Inter"/>
              </a:rPr>
              <a:t>black-box probes</a:t>
            </a:r>
          </a:p>
        </p:txBody>
      </p:sp>
      <p:sp>
        <p:nvSpPr>
          <p:cNvPr id="12" name="TextBox 11"/>
          <p:cNvSpPr txBox="1"/>
          <p:nvPr/>
        </p:nvSpPr>
        <p:spPr>
          <a:xfrm>
            <a:off x="3641598" y="3639312"/>
            <a:ext cx="2194560" cy="914400"/>
          </a:xfrm>
          <a:prstGeom prst="rect">
            <a:avLst/>
          </a:prstGeom>
          <a:noFill/>
        </p:spPr>
        <p:txBody>
          <a:bodyPr wrap="square" lIns="0" rIns="0" tIns="0" bIns="0" anchor="t">
            <a:spAutoFit/>
          </a:bodyPr>
          <a:lstStyle/>
          <a:p>
            <a:pPr algn="l">
              <a:lnSpc>
                <a:spcPct val="110000"/>
              </a:lnSpc>
              <a:spcAft>
                <a:spcPts val="0"/>
              </a:spcAft>
            </a:pPr>
            <a:r>
              <a:rPr sz="1500" b="0">
                <a:solidFill>
                  <a:srgbClr val="B4C1D2"/>
                </a:solidFill>
                <a:latin typeface="Inter"/>
                <a:ea typeface="Inter"/>
                <a:cs typeface="Inter"/>
              </a:rPr>
              <a:t>Auth, inputs, sessions, isolation</a:t>
            </a:r>
          </a:p>
        </p:txBody>
      </p:sp>
      <p:sp>
        <p:nvSpPr>
          <p:cNvPr id="13" name="Rounded Rectangle 12"/>
          <p:cNvSpPr/>
          <p:nvPr/>
        </p:nvSpPr>
        <p:spPr>
          <a:xfrm>
            <a:off x="6185916" y="1965960"/>
            <a:ext cx="2590038" cy="2697480"/>
          </a:xfrm>
          <a:prstGeom prst="roundRect">
            <a:avLst>
              <a:gd name="adj" fmla="val 4942"/>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4516" y="2148840"/>
            <a:ext cx="2286000" cy="731520"/>
          </a:xfrm>
          <a:prstGeom prst="rect">
            <a:avLst/>
          </a:prstGeom>
          <a:noFill/>
        </p:spPr>
        <p:txBody>
          <a:bodyPr wrap="square" lIns="0" rIns="0" tIns="0" bIns="0" anchor="t">
            <a:spAutoFit/>
          </a:bodyPr>
          <a:lstStyle/>
          <a:p>
            <a:pPr algn="l">
              <a:lnSpc>
                <a:spcPct val="110000"/>
              </a:lnSpc>
              <a:spcAft>
                <a:spcPts val="0"/>
              </a:spcAft>
            </a:pPr>
            <a:r>
              <a:rPr sz="3600" b="1">
                <a:solidFill>
                  <a:srgbClr val="3BE3C1"/>
                </a:solidFill>
                <a:latin typeface="Inter"/>
                <a:ea typeface="Inter"/>
                <a:cs typeface="Inter"/>
              </a:rPr>
              <a:t>14,280</a:t>
            </a:r>
          </a:p>
        </p:txBody>
      </p:sp>
      <p:sp>
        <p:nvSpPr>
          <p:cNvPr id="15" name="TextBox 14"/>
          <p:cNvSpPr txBox="1"/>
          <p:nvPr/>
        </p:nvSpPr>
        <p:spPr>
          <a:xfrm>
            <a:off x="6414516" y="2926080"/>
            <a:ext cx="2194560" cy="685800"/>
          </a:xfrm>
          <a:prstGeom prst="rect">
            <a:avLst/>
          </a:prstGeom>
          <a:noFill/>
        </p:spPr>
        <p:txBody>
          <a:bodyPr wrap="square" lIns="0" rIns="0" tIns="0" bIns="0" anchor="t">
            <a:spAutoFit/>
          </a:bodyPr>
          <a:lstStyle/>
          <a:p>
            <a:pPr algn="l">
              <a:lnSpc>
                <a:spcPct val="105000"/>
              </a:lnSpc>
              <a:spcAft>
                <a:spcPts val="0"/>
              </a:spcAft>
            </a:pPr>
            <a:r>
              <a:rPr sz="1800" b="1">
                <a:solidFill>
                  <a:srgbClr val="FFFFFF"/>
                </a:solidFill>
                <a:latin typeface="Inter"/>
                <a:ea typeface="Inter"/>
                <a:cs typeface="Inter"/>
              </a:rPr>
              <a:t>randomized scenarios</a:t>
            </a:r>
          </a:p>
        </p:txBody>
      </p:sp>
      <p:sp>
        <p:nvSpPr>
          <p:cNvPr id="16" name="TextBox 15"/>
          <p:cNvSpPr txBox="1"/>
          <p:nvPr/>
        </p:nvSpPr>
        <p:spPr>
          <a:xfrm>
            <a:off x="6414516" y="3639312"/>
            <a:ext cx="2194560" cy="914400"/>
          </a:xfrm>
          <a:prstGeom prst="rect">
            <a:avLst/>
          </a:prstGeom>
          <a:noFill/>
        </p:spPr>
        <p:txBody>
          <a:bodyPr wrap="square" lIns="0" rIns="0" tIns="0" bIns="0" anchor="t">
            <a:spAutoFit/>
          </a:bodyPr>
          <a:lstStyle/>
          <a:p>
            <a:pPr algn="l">
              <a:lnSpc>
                <a:spcPct val="110000"/>
              </a:lnSpc>
              <a:spcAft>
                <a:spcPts val="0"/>
              </a:spcAft>
            </a:pPr>
            <a:r>
              <a:rPr sz="1500" b="0">
                <a:solidFill>
                  <a:srgbClr val="B4C1D2"/>
                </a:solidFill>
                <a:latin typeface="Inter"/>
                <a:ea typeface="Inter"/>
                <a:cs typeface="Inter"/>
              </a:rPr>
              <a:t>Financing engine: 119 seeds × 120 rounds</a:t>
            </a:r>
          </a:p>
        </p:txBody>
      </p:sp>
      <p:sp>
        <p:nvSpPr>
          <p:cNvPr id="17" name="Rounded Rectangle 16"/>
          <p:cNvSpPr/>
          <p:nvPr/>
        </p:nvSpPr>
        <p:spPr>
          <a:xfrm>
            <a:off x="8958834" y="1965960"/>
            <a:ext cx="2590038" cy="2697480"/>
          </a:xfrm>
          <a:prstGeom prst="roundRect">
            <a:avLst>
              <a:gd name="adj" fmla="val 4942"/>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7434" y="2148840"/>
            <a:ext cx="2286000" cy="731520"/>
          </a:xfrm>
          <a:prstGeom prst="rect">
            <a:avLst/>
          </a:prstGeom>
          <a:noFill/>
        </p:spPr>
        <p:txBody>
          <a:bodyPr wrap="square" lIns="0" rIns="0" tIns="0" bIns="0" anchor="t">
            <a:spAutoFit/>
          </a:bodyPr>
          <a:lstStyle/>
          <a:p>
            <a:pPr algn="l">
              <a:lnSpc>
                <a:spcPct val="110000"/>
              </a:lnSpc>
              <a:spcAft>
                <a:spcPts val="0"/>
              </a:spcAft>
            </a:pPr>
            <a:r>
              <a:rPr sz="3600" b="1">
                <a:solidFill>
                  <a:srgbClr val="F5B642"/>
                </a:solidFill>
                <a:latin typeface="Inter"/>
                <a:ea typeface="Inter"/>
                <a:cs typeface="Inter"/>
              </a:rPr>
              <a:t>73.7%</a:t>
            </a:r>
          </a:p>
        </p:txBody>
      </p:sp>
      <p:sp>
        <p:nvSpPr>
          <p:cNvPr id="19" name="TextBox 18"/>
          <p:cNvSpPr txBox="1"/>
          <p:nvPr/>
        </p:nvSpPr>
        <p:spPr>
          <a:xfrm>
            <a:off x="9187434" y="2926080"/>
            <a:ext cx="2194560" cy="685800"/>
          </a:xfrm>
          <a:prstGeom prst="rect">
            <a:avLst/>
          </a:prstGeom>
          <a:noFill/>
        </p:spPr>
        <p:txBody>
          <a:bodyPr wrap="square" lIns="0" rIns="0" tIns="0" bIns="0" anchor="t">
            <a:spAutoFit/>
          </a:bodyPr>
          <a:lstStyle/>
          <a:p>
            <a:pPr algn="l">
              <a:lnSpc>
                <a:spcPct val="105000"/>
              </a:lnSpc>
              <a:spcAft>
                <a:spcPts val="0"/>
              </a:spcAft>
            </a:pPr>
            <a:r>
              <a:rPr sz="1800" b="1">
                <a:solidFill>
                  <a:srgbClr val="FFFFFF"/>
                </a:solidFill>
                <a:latin typeface="Inter"/>
                <a:ea typeface="Inter"/>
                <a:cs typeface="Inter"/>
              </a:rPr>
              <a:t>fresh-prompt accuracy</a:t>
            </a:r>
          </a:p>
        </p:txBody>
      </p:sp>
      <p:sp>
        <p:nvSpPr>
          <p:cNvPr id="20" name="TextBox 19"/>
          <p:cNvSpPr txBox="1"/>
          <p:nvPr/>
        </p:nvSpPr>
        <p:spPr>
          <a:xfrm>
            <a:off x="9187434" y="3639312"/>
            <a:ext cx="2194560" cy="914400"/>
          </a:xfrm>
          <a:prstGeom prst="rect">
            <a:avLst/>
          </a:prstGeom>
          <a:noFill/>
        </p:spPr>
        <p:txBody>
          <a:bodyPr wrap="square" lIns="0" rIns="0" tIns="0" bIns="0" anchor="t">
            <a:spAutoFit/>
          </a:bodyPr>
          <a:lstStyle/>
          <a:p>
            <a:pPr algn="l">
              <a:lnSpc>
                <a:spcPct val="110000"/>
              </a:lnSpc>
              <a:spcAft>
                <a:spcPts val="0"/>
              </a:spcAft>
            </a:pPr>
            <a:r>
              <a:rPr sz="1500" b="0">
                <a:solidFill>
                  <a:srgbClr val="B4C1D2"/>
                </a:solidFill>
                <a:latin typeface="Inter"/>
                <a:ea typeface="Inter"/>
                <a:cs typeface="Inter"/>
              </a:rPr>
              <a:t>70 of 95 unseen prompts, run once</a:t>
            </a:r>
          </a:p>
        </p:txBody>
      </p:sp>
      <p:sp>
        <p:nvSpPr>
          <p:cNvPr id="21" name="Rounded Rectangle 20"/>
          <p:cNvSpPr/>
          <p:nvPr/>
        </p:nvSpPr>
        <p:spPr>
          <a:xfrm>
            <a:off x="640080" y="4846320"/>
            <a:ext cx="10908792" cy="1097280"/>
          </a:xfrm>
          <a:prstGeom prst="roundRect">
            <a:avLst>
              <a:gd name="adj" fmla="val 11666"/>
            </a:avLst>
          </a:prstGeom>
          <a:solidFill>
            <a:srgbClr val="172A44"/>
          </a:solidFill>
          <a:ln w="15875">
            <a:solidFill>
              <a:srgbClr val="C7F3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937760"/>
            <a:ext cx="3200400" cy="274320"/>
          </a:xfrm>
          <a:prstGeom prst="rect">
            <a:avLst/>
          </a:prstGeom>
          <a:noFill/>
        </p:spPr>
        <p:txBody>
          <a:bodyPr wrap="square" lIns="0" rIns="0" tIns="0" bIns="0" anchor="t">
            <a:spAutoFit/>
          </a:bodyPr>
          <a:lstStyle/>
          <a:p>
            <a:pPr algn="l">
              <a:lnSpc>
                <a:spcPct val="110000"/>
              </a:lnSpc>
              <a:spcAft>
                <a:spcPts val="0"/>
              </a:spcAft>
            </a:pPr>
            <a:r>
              <a:rPr sz="1400" b="1" spc="120">
                <a:solidFill>
                  <a:srgbClr val="C7F36B"/>
                </a:solidFill>
                <a:latin typeface="Inter"/>
                <a:ea typeface="Inter"/>
                <a:cs typeface="Inter"/>
              </a:rPr>
              <a:t>WHAT WE DO NOT CLAIM</a:t>
            </a:r>
          </a:p>
        </p:txBody>
      </p:sp>
      <p:sp>
        <p:nvSpPr>
          <p:cNvPr id="23" name="TextBox 22"/>
          <p:cNvSpPr txBox="1"/>
          <p:nvPr/>
        </p:nvSpPr>
        <p:spPr>
          <a:xfrm>
            <a:off x="914400" y="5257800"/>
            <a:ext cx="10424160" cy="640080"/>
          </a:xfrm>
          <a:prstGeom prst="rect">
            <a:avLst/>
          </a:prstGeom>
          <a:noFill/>
        </p:spPr>
        <p:txBody>
          <a:bodyPr wrap="square" lIns="0" rIns="0" tIns="0" bIns="0" anchor="t">
            <a:spAutoFit/>
          </a:bodyPr>
          <a:lstStyle/>
          <a:p>
            <a:pPr algn="l">
              <a:lnSpc>
                <a:spcPct val="115000"/>
              </a:lnSpc>
              <a:spcAft>
                <a:spcPts val="0"/>
              </a:spcAft>
            </a:pPr>
            <a:r>
              <a:rPr sz="1700" b="1">
                <a:solidFill>
                  <a:srgbClr val="FFFFFF"/>
                </a:solidFill>
                <a:latin typeface="Inter"/>
                <a:ea typeface="Inter"/>
                <a:cs typeface="Inter"/>
              </a:rPr>
              <a:t>No bank connection · Lender quotes are user-entered · Forecasts are scenarios, not predictions · Decision support, not autonomy</a:t>
            </a:r>
          </a:p>
        </p:txBody>
      </p:sp>
      <p:sp>
        <p:nvSpPr>
          <p:cNvPr id="24" name="TextBox 23"/>
          <p:cNvSpPr txBox="1"/>
          <p:nvPr/>
        </p:nvSpPr>
        <p:spPr>
          <a:xfrm>
            <a:off x="640080" y="6035040"/>
            <a:ext cx="10908792" cy="274320"/>
          </a:xfrm>
          <a:prstGeom prst="rect">
            <a:avLst/>
          </a:prstGeom>
          <a:noFill/>
        </p:spPr>
        <p:txBody>
          <a:bodyPr wrap="square" lIns="0" rIns="0" tIns="0" bIns="0" anchor="t">
            <a:spAutoFit/>
          </a:bodyPr>
          <a:lstStyle/>
          <a:p>
            <a:pPr algn="l">
              <a:lnSpc>
                <a:spcPct val="110000"/>
              </a:lnSpc>
              <a:spcAft>
                <a:spcPts val="0"/>
              </a:spcAft>
            </a:pPr>
            <a:r>
              <a:rPr sz="1400" b="0">
                <a:solidFill>
                  <a:srgbClr val="8FA0B5"/>
                </a:solidFill>
                <a:latin typeface="Inter"/>
                <a:ea typeface="Inter"/>
                <a:cs typeface="Inter"/>
              </a:rPr>
              <a:t>Sources: docs/SECURITY_SELF_ASSESSMENT.md · docs/LOCAL_ASSISTANT_EVALUATION.md · deck_build/verify_claims.py</a:t>
            </a:r>
          </a:p>
        </p:txBody>
      </p:sp>
      <p:cxnSp>
        <p:nvCxnSpPr>
          <p:cNvPr id="25" name="Connector 24"/>
          <p:cNvCxnSpPr/>
          <p:nvPr/>
        </p:nvCxnSpPr>
        <p:spPr>
          <a:xfrm>
            <a:off x="640080" y="6382512"/>
            <a:ext cx="10911535" cy="0"/>
          </a:xfrm>
          <a:prstGeom prst="line">
            <a:avLst/>
          </a:prstGeom>
          <a:ln>
            <a:solidFill>
              <a:srgbClr val="2A3F5C"/>
            </a:solidFill>
          </a:ln>
        </p:spPr>
        <p:style>
          <a:lnRef idx="2">
            <a:schemeClr val="accent1"/>
          </a:lnRef>
          <a:fillRef idx="0">
            <a:schemeClr val="accent1"/>
          </a:fillRef>
          <a:effectRef idx="1">
            <a:schemeClr val="accent1"/>
          </a:effectRef>
          <a:fontRef idx="minor">
            <a:schemeClr val="tx1"/>
          </a:fontRef>
        </p:style>
      </p:cxnSp>
      <p:pic>
        <p:nvPicPr>
          <p:cNvPr id="26" name="Picture 25" descr="logo.png"/>
          <p:cNvPicPr>
            <a:picLocks noChangeAspect="1"/>
          </p:cNvPicPr>
          <p:nvPr/>
        </p:nvPicPr>
        <p:blipFill>
          <a:blip r:embed="rId3"/>
          <a:stretch>
            <a:fillRect/>
          </a:stretch>
        </p:blipFill>
        <p:spPr>
          <a:xfrm>
            <a:off x="640080" y="6446520"/>
            <a:ext cx="292608" cy="292608"/>
          </a:xfrm>
          <a:prstGeom prst="rect">
            <a:avLst/>
          </a:prstGeom>
        </p:spPr>
      </p:pic>
      <p:sp>
        <p:nvSpPr>
          <p:cNvPr id="27" name="TextBox 26"/>
          <p:cNvSpPr txBox="1"/>
          <p:nvPr/>
        </p:nvSpPr>
        <p:spPr>
          <a:xfrm>
            <a:off x="1024128" y="6464808"/>
            <a:ext cx="7772400" cy="274320"/>
          </a:xfrm>
          <a:prstGeom prst="rect">
            <a:avLst/>
          </a:prstGeom>
          <a:noFill/>
        </p:spPr>
        <p:txBody>
          <a:bodyPr wrap="square" lIns="0" rIns="0" tIns="0" bIns="0" anchor="ctr">
            <a:spAutoFit/>
          </a:bodyPr>
          <a:lstStyle/>
          <a:p>
            <a:pPr algn="l">
              <a:lnSpc>
                <a:spcPct val="110000"/>
              </a:lnSpc>
              <a:spcAft>
                <a:spcPts val="0"/>
              </a:spcAft>
            </a:pPr>
            <a:r>
              <a:rPr sz="1400" b="1">
                <a:solidFill>
                  <a:srgbClr val="B4C1D2"/>
                </a:solidFill>
                <a:latin typeface="Inter"/>
                <a:ea typeface="Inter"/>
                <a:cs typeface="Inter"/>
              </a:rPr>
              <a:t>Capzoryx Copilot</a:t>
            </a:r>
            <a:r>
              <a:rPr sz="1400" b="0">
                <a:solidFill>
                  <a:srgbClr val="8FA0B5"/>
                </a:solidFill>
                <a:latin typeface="Inter"/>
                <a:ea typeface="Inter"/>
                <a:cs typeface="Inter"/>
              </a:rPr>
              <a:t>  ·  2026 Shenzhen International FinTechathon  ·  Topic E</a:t>
            </a:r>
          </a:p>
        </p:txBody>
      </p:sp>
      <p:sp>
        <p:nvSpPr>
          <p:cNvPr id="28" name="TextBox 27"/>
          <p:cNvSpPr txBox="1"/>
          <p:nvPr/>
        </p:nvSpPr>
        <p:spPr>
          <a:xfrm>
            <a:off x="9722815" y="6464808"/>
            <a:ext cx="1828800" cy="274320"/>
          </a:xfrm>
          <a:prstGeom prst="rect">
            <a:avLst/>
          </a:prstGeom>
          <a:noFill/>
        </p:spPr>
        <p:txBody>
          <a:bodyPr wrap="square" lIns="0" rIns="0" tIns="0" bIns="0" anchor="ctr">
            <a:spAutoFit/>
          </a:bodyPr>
          <a:lstStyle/>
          <a:p>
            <a:pPr algn="r">
              <a:lnSpc>
                <a:spcPct val="110000"/>
              </a:lnSpc>
              <a:spcAft>
                <a:spcPts val="0"/>
              </a:spcAft>
            </a:pPr>
            <a:r>
              <a:rPr sz="1400" b="1">
                <a:solidFill>
                  <a:srgbClr val="B4C1D2"/>
                </a:solidFill>
                <a:latin typeface="Inter"/>
                <a:ea typeface="Inter"/>
                <a:cs typeface="Inter"/>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pic>
        <p:nvPicPr>
          <p:cNvPr id="2" name="Picture 1" descr="logo.png"/>
          <p:cNvPicPr>
            <a:picLocks noChangeAspect="1"/>
          </p:cNvPicPr>
          <p:nvPr/>
        </p:nvPicPr>
        <p:blipFill>
          <a:blip r:embed="rId3"/>
          <a:stretch>
            <a:fillRect/>
          </a:stretch>
        </p:blipFill>
        <p:spPr>
          <a:xfrm>
            <a:off x="731520" y="640080"/>
            <a:ext cx="822960" cy="822960"/>
          </a:xfrm>
          <a:prstGeom prst="rect">
            <a:avLst/>
          </a:prstGeom>
        </p:spPr>
      </p:pic>
      <p:sp>
        <p:nvSpPr>
          <p:cNvPr id="3" name="TextBox 2"/>
          <p:cNvSpPr txBox="1"/>
          <p:nvPr/>
        </p:nvSpPr>
        <p:spPr>
          <a:xfrm>
            <a:off x="1691640" y="713232"/>
            <a:ext cx="5486400" cy="731520"/>
          </a:xfrm>
          <a:prstGeom prst="rect">
            <a:avLst/>
          </a:prstGeom>
          <a:noFill/>
        </p:spPr>
        <p:txBody>
          <a:bodyPr wrap="square" lIns="0" rIns="0" tIns="0" bIns="0" anchor="ctr">
            <a:spAutoFit/>
          </a:bodyPr>
          <a:lstStyle/>
          <a:p>
            <a:pPr algn="l">
              <a:lnSpc>
                <a:spcPct val="110000"/>
              </a:lnSpc>
              <a:spcAft>
                <a:spcPts val="0"/>
              </a:spcAft>
            </a:pPr>
            <a:r>
              <a:rPr sz="3400" b="1">
                <a:solidFill>
                  <a:srgbClr val="FFFFFF"/>
                </a:solidFill>
                <a:latin typeface="Inter"/>
                <a:ea typeface="Inter"/>
                <a:cs typeface="Inter"/>
              </a:rPr>
              <a:t>Capzoryx </a:t>
            </a:r>
            <a:r>
              <a:rPr sz="3400" b="1">
                <a:solidFill>
                  <a:srgbClr val="3BE3C1"/>
                </a:solidFill>
                <a:latin typeface="Inter"/>
                <a:ea typeface="Inter"/>
                <a:cs typeface="Inter"/>
              </a:rPr>
              <a:t>Copilot</a:t>
            </a:r>
          </a:p>
        </p:txBody>
      </p:sp>
      <p:sp>
        <p:nvSpPr>
          <p:cNvPr id="4" name="TextBox 3"/>
          <p:cNvSpPr txBox="1"/>
          <p:nvPr/>
        </p:nvSpPr>
        <p:spPr>
          <a:xfrm>
            <a:off x="731520" y="1828800"/>
            <a:ext cx="6583680" cy="914400"/>
          </a:xfrm>
          <a:prstGeom prst="rect">
            <a:avLst/>
          </a:prstGeom>
          <a:noFill/>
        </p:spPr>
        <p:txBody>
          <a:bodyPr wrap="square" lIns="0" rIns="0" tIns="0" bIns="0" anchor="t">
            <a:spAutoFit/>
          </a:bodyPr>
          <a:lstStyle/>
          <a:p>
            <a:pPr algn="l">
              <a:lnSpc>
                <a:spcPct val="100000"/>
              </a:lnSpc>
              <a:spcAft>
                <a:spcPts val="0"/>
              </a:spcAft>
            </a:pPr>
            <a:r>
              <a:rPr sz="4800" b="1">
                <a:solidFill>
                  <a:srgbClr val="FFFFFF"/>
                </a:solidFill>
                <a:latin typeface="Inter"/>
                <a:ea typeface="Inter"/>
                <a:cs typeface="Inter"/>
              </a:rPr>
              <a:t>AI should improve</a:t>
            </a:r>
          </a:p>
        </p:txBody>
      </p:sp>
      <p:sp>
        <p:nvSpPr>
          <p:cNvPr id="5" name="TextBox 4"/>
          <p:cNvSpPr txBox="1"/>
          <p:nvPr/>
        </p:nvSpPr>
        <p:spPr>
          <a:xfrm>
            <a:off x="731520" y="2606040"/>
            <a:ext cx="6583680" cy="914400"/>
          </a:xfrm>
          <a:prstGeom prst="rect">
            <a:avLst/>
          </a:prstGeom>
          <a:noFill/>
        </p:spPr>
        <p:txBody>
          <a:bodyPr wrap="square" lIns="0" rIns="0" tIns="0" bIns="0" anchor="t">
            <a:spAutoFit/>
          </a:bodyPr>
          <a:lstStyle/>
          <a:p>
            <a:pPr algn="l">
              <a:lnSpc>
                <a:spcPct val="100000"/>
              </a:lnSpc>
              <a:spcAft>
                <a:spcPts val="0"/>
              </a:spcAft>
            </a:pPr>
            <a:r>
              <a:rPr sz="4800" b="1">
                <a:solidFill>
                  <a:srgbClr val="3BE3C1"/>
                </a:solidFill>
                <a:latin typeface="Inter"/>
                <a:ea typeface="Inter"/>
                <a:cs typeface="Inter"/>
              </a:rPr>
              <a:t>financial judgment.</a:t>
            </a:r>
          </a:p>
        </p:txBody>
      </p:sp>
      <p:sp>
        <p:nvSpPr>
          <p:cNvPr id="6" name="TextBox 5"/>
          <p:cNvSpPr txBox="1"/>
          <p:nvPr/>
        </p:nvSpPr>
        <p:spPr>
          <a:xfrm>
            <a:off x="731520" y="3520440"/>
            <a:ext cx="6583680" cy="548640"/>
          </a:xfrm>
          <a:prstGeom prst="rect">
            <a:avLst/>
          </a:prstGeom>
          <a:noFill/>
        </p:spPr>
        <p:txBody>
          <a:bodyPr wrap="square" lIns="0" rIns="0" tIns="0" bIns="0" anchor="t">
            <a:spAutoFit/>
          </a:bodyPr>
          <a:lstStyle/>
          <a:p>
            <a:pPr algn="l">
              <a:lnSpc>
                <a:spcPct val="110000"/>
              </a:lnSpc>
              <a:spcAft>
                <a:spcPts val="0"/>
              </a:spcAft>
            </a:pPr>
            <a:r>
              <a:rPr sz="2800" b="1">
                <a:solidFill>
                  <a:srgbClr val="FFFFFF"/>
                </a:solidFill>
                <a:latin typeface="Inter"/>
                <a:ea typeface="Inter"/>
                <a:cs typeface="Inter"/>
              </a:rPr>
              <a:t>Not replace human control.</a:t>
            </a:r>
          </a:p>
        </p:txBody>
      </p:sp>
      <p:sp>
        <p:nvSpPr>
          <p:cNvPr id="7" name="Rounded Rectangle 6"/>
          <p:cNvSpPr/>
          <p:nvPr/>
        </p:nvSpPr>
        <p:spPr>
          <a:xfrm>
            <a:off x="731520" y="4343400"/>
            <a:ext cx="6309360" cy="1234440"/>
          </a:xfrm>
          <a:prstGeom prst="roundRect">
            <a:avLst>
              <a:gd name="adj" fmla="val 10370"/>
            </a:avLst>
          </a:prstGeom>
          <a:solidFill>
            <a:srgbClr val="121F31"/>
          </a:solidFill>
          <a:ln w="12700">
            <a:solidFill>
              <a:srgbClr val="2A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434840"/>
            <a:ext cx="5852160" cy="274320"/>
          </a:xfrm>
          <a:prstGeom prst="rect">
            <a:avLst/>
          </a:prstGeom>
          <a:noFill/>
        </p:spPr>
        <p:txBody>
          <a:bodyPr wrap="square" lIns="0" rIns="0" tIns="0" bIns="0" anchor="t">
            <a:spAutoFit/>
          </a:bodyPr>
          <a:lstStyle/>
          <a:p>
            <a:pPr algn="l">
              <a:lnSpc>
                <a:spcPct val="110000"/>
              </a:lnSpc>
              <a:spcAft>
                <a:spcPts val="0"/>
              </a:spcAft>
            </a:pPr>
            <a:r>
              <a:rPr sz="1400" b="1" spc="120">
                <a:solidFill>
                  <a:srgbClr val="C7F36B"/>
                </a:solidFill>
                <a:latin typeface="Inter"/>
                <a:ea typeface="Inter"/>
                <a:cs typeface="Inter"/>
              </a:rPr>
              <a:t>NEXT, WHEN GOVERNANCE IS READY</a:t>
            </a:r>
          </a:p>
        </p:txBody>
      </p:sp>
      <p:sp>
        <p:nvSpPr>
          <p:cNvPr id="9" name="TextBox 8"/>
          <p:cNvSpPr txBox="1"/>
          <p:nvPr/>
        </p:nvSpPr>
        <p:spPr>
          <a:xfrm>
            <a:off x="960120" y="4754880"/>
            <a:ext cx="5852160" cy="822960"/>
          </a:xfrm>
          <a:prstGeom prst="rect">
            <a:avLst/>
          </a:prstGeom>
          <a:noFill/>
        </p:spPr>
        <p:txBody>
          <a:bodyPr wrap="square" lIns="0" rIns="0" tIns="0" bIns="0" anchor="t">
            <a:spAutoFit/>
          </a:bodyPr>
          <a:lstStyle/>
          <a:p>
            <a:pPr algn="l">
              <a:lnSpc>
                <a:spcPct val="115000"/>
              </a:lnSpc>
              <a:spcAft>
                <a:spcPts val="0"/>
              </a:spcAft>
            </a:pPr>
            <a:r>
              <a:rPr sz="1800" b="0">
                <a:solidFill>
                  <a:srgbClr val="FFFFFF"/>
                </a:solidFill>
                <a:latin typeface="Inter"/>
                <a:ea typeface="Inter"/>
                <a:cs typeface="Inter"/>
              </a:rPr>
              <a:t>Bank and wallet statement import · bill reminders · validated integrations and a security review</a:t>
            </a:r>
          </a:p>
        </p:txBody>
      </p:sp>
      <p:sp>
        <p:nvSpPr>
          <p:cNvPr id="10" name="TextBox 9"/>
          <p:cNvSpPr txBox="1"/>
          <p:nvPr/>
        </p:nvSpPr>
        <p:spPr>
          <a:xfrm>
            <a:off x="731520" y="5715000"/>
            <a:ext cx="6583680" cy="548640"/>
          </a:xfrm>
          <a:prstGeom prst="rect">
            <a:avLst/>
          </a:prstGeom>
          <a:noFill/>
        </p:spPr>
        <p:txBody>
          <a:bodyPr wrap="square" lIns="0" rIns="0" tIns="0" bIns="0" anchor="t">
            <a:spAutoFit/>
          </a:bodyPr>
          <a:lstStyle/>
          <a:p>
            <a:pPr algn="l">
              <a:lnSpc>
                <a:spcPct val="110000"/>
              </a:lnSpc>
              <a:spcAft>
                <a:spcPts val="0"/>
              </a:spcAft>
            </a:pPr>
            <a:r>
              <a:rPr sz="1500" b="0">
                <a:solidFill>
                  <a:srgbClr val="B4C1D2"/>
                </a:solidFill>
                <a:latin typeface="Inter"/>
                <a:ea typeface="Inter"/>
                <a:cs typeface="Inter"/>
              </a:rPr>
              <a:t>A decision-support prototype, not an autonomous bank.</a:t>
            </a:r>
          </a:p>
        </p:txBody>
      </p:sp>
      <p:sp>
        <p:nvSpPr>
          <p:cNvPr id="11" name="Rounded Rectangle 10"/>
          <p:cNvSpPr/>
          <p:nvPr/>
        </p:nvSpPr>
        <p:spPr>
          <a:xfrm>
            <a:off x="8001000" y="1051560"/>
            <a:ext cx="3566160" cy="4160520"/>
          </a:xfrm>
          <a:prstGeom prst="roundRect">
            <a:avLst>
              <a:gd name="adj" fmla="val 56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qr.png">
            <a:hlinkClick r:id="rId5"/>
          </p:cNvPr>
          <p:cNvPicPr>
            <a:picLocks noChangeAspect="1"/>
          </p:cNvPicPr>
          <p:nvPr/>
        </p:nvPicPr>
        <p:blipFill>
          <a:blip r:embed="rId4"/>
          <a:stretch>
            <a:fillRect/>
          </a:stretch>
        </p:blipFill>
        <p:spPr>
          <a:xfrm>
            <a:off x="8321040" y="1325880"/>
            <a:ext cx="2926080" cy="2926080"/>
          </a:xfrm>
          <a:prstGeom prst="rect">
            <a:avLst/>
          </a:prstGeom>
        </p:spPr>
      </p:pic>
      <p:sp>
        <p:nvSpPr>
          <p:cNvPr id="13" name="TextBox 12"/>
          <p:cNvSpPr txBox="1"/>
          <p:nvPr/>
        </p:nvSpPr>
        <p:spPr>
          <a:xfrm>
            <a:off x="8001000" y="4370832"/>
            <a:ext cx="3566160" cy="365760"/>
          </a:xfrm>
          <a:prstGeom prst="rect">
            <a:avLst/>
          </a:prstGeom>
          <a:noFill/>
        </p:spPr>
        <p:txBody>
          <a:bodyPr wrap="square" lIns="0" rIns="0" tIns="0" bIns="0" anchor="t">
            <a:spAutoFit/>
          </a:bodyPr>
          <a:lstStyle/>
          <a:p>
            <a:pPr algn="ctr">
              <a:lnSpc>
                <a:spcPct val="110000"/>
              </a:lnSpc>
              <a:spcAft>
                <a:spcPts val="0"/>
              </a:spcAft>
            </a:pPr>
            <a:r>
              <a:rPr sz="1600" b="1">
                <a:solidFill>
                  <a:srgbClr val="0A1220"/>
                </a:solidFill>
                <a:latin typeface="Inter"/>
                <a:ea typeface="Inter"/>
                <a:cs typeface="Inter"/>
              </a:rPr>
              <a:t>SCAN FOR THE LIVE DEMO</a:t>
            </a:r>
          </a:p>
        </p:txBody>
      </p:sp>
      <p:sp>
        <p:nvSpPr>
          <p:cNvPr id="14" name="TextBox 13"/>
          <p:cNvSpPr txBox="1"/>
          <p:nvPr/>
        </p:nvSpPr>
        <p:spPr>
          <a:xfrm>
            <a:off x="8001000" y="4709160"/>
            <a:ext cx="3566160" cy="365760"/>
          </a:xfrm>
          <a:prstGeom prst="rect">
            <a:avLst/>
          </a:prstGeom>
          <a:noFill/>
        </p:spPr>
        <p:txBody>
          <a:bodyPr wrap="square" lIns="0" rIns="0" tIns="0" bIns="0" anchor="t">
            <a:spAutoFit/>
          </a:bodyPr>
          <a:lstStyle/>
          <a:p>
            <a:pPr algn="ctr">
              <a:lnSpc>
                <a:spcPct val="110000"/>
              </a:lnSpc>
              <a:spcAft>
                <a:spcPts val="0"/>
              </a:spcAft>
            </a:pPr>
            <a:r>
              <a:rPr sz="1500" b="1">
                <a:solidFill>
                  <a:srgbClr val="0B6F5C"/>
                </a:solidFill>
                <a:latin typeface="Inter"/>
                <a:ea typeface="Inter"/>
                <a:cs typeface="Inter"/>
                <a:hlinkClick r:id="rId5"/>
              </a:rPr>
              <a:t>capzoryx-copilot.vercel.app</a:t>
            </a:r>
          </a:p>
        </p:txBody>
      </p:sp>
      <p:sp>
        <p:nvSpPr>
          <p:cNvPr id="15" name="TextBox 14"/>
          <p:cNvSpPr txBox="1"/>
          <p:nvPr/>
        </p:nvSpPr>
        <p:spPr>
          <a:xfrm>
            <a:off x="7680960" y="5394960"/>
            <a:ext cx="4206240" cy="320040"/>
          </a:xfrm>
          <a:prstGeom prst="rect">
            <a:avLst/>
          </a:prstGeom>
          <a:noFill/>
        </p:spPr>
        <p:txBody>
          <a:bodyPr wrap="square" lIns="0" rIns="0" tIns="0" bIns="0" anchor="t">
            <a:spAutoFit/>
          </a:bodyPr>
          <a:lstStyle/>
          <a:p>
            <a:pPr algn="ctr">
              <a:lnSpc>
                <a:spcPct val="110000"/>
              </a:lnSpc>
              <a:spcAft>
                <a:spcPts val="0"/>
              </a:spcAft>
            </a:pPr>
            <a:r>
              <a:rPr sz="1500" b="0">
                <a:solidFill>
                  <a:srgbClr val="3BE3C1"/>
                </a:solidFill>
                <a:latin typeface="Inter"/>
                <a:ea typeface="Inter"/>
                <a:cs typeface="Inter"/>
                <a:hlinkClick r:id="rId6"/>
              </a:rPr>
              <a:t>github.com/Pranto-404/capzoryx-copilot</a:t>
            </a:r>
          </a:p>
        </p:txBody>
      </p:sp>
      <p:sp>
        <p:nvSpPr>
          <p:cNvPr id="16" name="TextBox 15"/>
          <p:cNvSpPr txBox="1"/>
          <p:nvPr/>
        </p:nvSpPr>
        <p:spPr>
          <a:xfrm>
            <a:off x="7680960" y="5760720"/>
            <a:ext cx="4206240" cy="320040"/>
          </a:xfrm>
          <a:prstGeom prst="rect">
            <a:avLst/>
          </a:prstGeom>
          <a:noFill/>
        </p:spPr>
        <p:txBody>
          <a:bodyPr wrap="square" lIns="0" rIns="0" tIns="0" bIns="0" anchor="t">
            <a:spAutoFit/>
          </a:bodyPr>
          <a:lstStyle/>
          <a:p>
            <a:pPr algn="ctr">
              <a:lnSpc>
                <a:spcPct val="110000"/>
              </a:lnSpc>
              <a:spcAft>
                <a:spcPts val="0"/>
              </a:spcAft>
            </a:pPr>
            <a:r>
              <a:rPr sz="1500" b="1">
                <a:solidFill>
                  <a:srgbClr val="B4C1D2"/>
                </a:solidFill>
                <a:latin typeface="Inter"/>
                <a:ea typeface="Inter"/>
                <a:cs typeface="Inter"/>
              </a:rPr>
              <a:t>TEAM CAPZORYX  ·  BANGLADESH</a:t>
            </a:r>
          </a:p>
        </p:txBody>
      </p:sp>
      <p:cxnSp>
        <p:nvCxnSpPr>
          <p:cNvPr id="17" name="Connector 16"/>
          <p:cNvCxnSpPr/>
          <p:nvPr/>
        </p:nvCxnSpPr>
        <p:spPr>
          <a:xfrm>
            <a:off x="640080" y="6382512"/>
            <a:ext cx="10911535" cy="0"/>
          </a:xfrm>
          <a:prstGeom prst="line">
            <a:avLst/>
          </a:prstGeom>
          <a:ln>
            <a:solidFill>
              <a:srgbClr val="2A3F5C"/>
            </a:solidFill>
          </a:ln>
        </p:spPr>
        <p:style>
          <a:lnRef idx="2">
            <a:schemeClr val="accent1"/>
          </a:lnRef>
          <a:fillRef idx="0">
            <a:schemeClr val="accent1"/>
          </a:fillRef>
          <a:effectRef idx="1">
            <a:schemeClr val="accent1"/>
          </a:effectRef>
          <a:fontRef idx="minor">
            <a:schemeClr val="tx1"/>
          </a:fontRef>
        </p:style>
      </p:cxnSp>
      <p:pic>
        <p:nvPicPr>
          <p:cNvPr id="18" name="Picture 17" descr="logo.png"/>
          <p:cNvPicPr>
            <a:picLocks noChangeAspect="1"/>
          </p:cNvPicPr>
          <p:nvPr/>
        </p:nvPicPr>
        <p:blipFill>
          <a:blip r:embed="rId3"/>
          <a:stretch>
            <a:fillRect/>
          </a:stretch>
        </p:blipFill>
        <p:spPr>
          <a:xfrm>
            <a:off x="640080" y="6446520"/>
            <a:ext cx="292608" cy="292608"/>
          </a:xfrm>
          <a:prstGeom prst="rect">
            <a:avLst/>
          </a:prstGeom>
        </p:spPr>
      </p:pic>
      <p:sp>
        <p:nvSpPr>
          <p:cNvPr id="19" name="TextBox 18"/>
          <p:cNvSpPr txBox="1"/>
          <p:nvPr/>
        </p:nvSpPr>
        <p:spPr>
          <a:xfrm>
            <a:off x="1024128" y="6464808"/>
            <a:ext cx="7772400" cy="274320"/>
          </a:xfrm>
          <a:prstGeom prst="rect">
            <a:avLst/>
          </a:prstGeom>
          <a:noFill/>
        </p:spPr>
        <p:txBody>
          <a:bodyPr wrap="square" lIns="0" rIns="0" tIns="0" bIns="0" anchor="ctr">
            <a:spAutoFit/>
          </a:bodyPr>
          <a:lstStyle/>
          <a:p>
            <a:pPr algn="l">
              <a:lnSpc>
                <a:spcPct val="110000"/>
              </a:lnSpc>
              <a:spcAft>
                <a:spcPts val="0"/>
              </a:spcAft>
            </a:pPr>
            <a:r>
              <a:rPr sz="1400" b="1">
                <a:solidFill>
                  <a:srgbClr val="B4C1D2"/>
                </a:solidFill>
                <a:latin typeface="Inter"/>
                <a:ea typeface="Inter"/>
                <a:cs typeface="Inter"/>
              </a:rPr>
              <a:t>Capzoryx Copilot</a:t>
            </a:r>
            <a:r>
              <a:rPr sz="1400" b="0">
                <a:solidFill>
                  <a:srgbClr val="8FA0B5"/>
                </a:solidFill>
                <a:latin typeface="Inter"/>
                <a:ea typeface="Inter"/>
                <a:cs typeface="Inter"/>
              </a:rPr>
              <a:t>  ·  The future of financial AI is verifiable</a:t>
            </a:r>
          </a:p>
        </p:txBody>
      </p:sp>
      <p:sp>
        <p:nvSpPr>
          <p:cNvPr id="20" name="TextBox 19"/>
          <p:cNvSpPr txBox="1"/>
          <p:nvPr/>
        </p:nvSpPr>
        <p:spPr>
          <a:xfrm>
            <a:off x="9722815" y="6464808"/>
            <a:ext cx="1828800" cy="274320"/>
          </a:xfrm>
          <a:prstGeom prst="rect">
            <a:avLst/>
          </a:prstGeom>
          <a:noFill/>
        </p:spPr>
        <p:txBody>
          <a:bodyPr wrap="square" lIns="0" rIns="0" tIns="0" bIns="0" anchor="ctr">
            <a:spAutoFit/>
          </a:bodyPr>
          <a:lstStyle/>
          <a:p>
            <a:pPr algn="r">
              <a:lnSpc>
                <a:spcPct val="110000"/>
              </a:lnSpc>
              <a:spcAft>
                <a:spcPts val="0"/>
              </a:spcAft>
            </a:pPr>
            <a:r>
              <a:rPr sz="1400" b="1">
                <a:solidFill>
                  <a:srgbClr val="B4C1D2"/>
                </a:solidFill>
                <a:latin typeface="Inter"/>
                <a:ea typeface="Inter"/>
                <a:cs typeface="Inter"/>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Capzoryx Copilot: 10-minute competition pitch</dc:title>
  <dc:subject>2026 Shenzhen International FinTechathon, International Track, Topic E: SME Finance Copilot</dc:subject>
  <dc:creator>Team Capzoryx</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